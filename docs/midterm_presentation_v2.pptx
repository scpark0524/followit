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81" r:id="rId2"/>
    <p:sldId id="288" r:id="rId3"/>
    <p:sldId id="289" r:id="rId4"/>
    <p:sldId id="294" r:id="rId5"/>
    <p:sldId id="285" r:id="rId6"/>
    <p:sldId id="295" r:id="rId7"/>
    <p:sldId id="287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61"/>
    <p:restoredTop sz="94674"/>
  </p:normalViewPr>
  <p:slideViewPr>
    <p:cSldViewPr snapToGrid="0" snapToObjects="1">
      <p:cViewPr varScale="1">
        <p:scale>
          <a:sx n="134" d="100"/>
          <a:sy n="134" d="100"/>
        </p:scale>
        <p:origin x="216" y="4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20800"/>
            <a:ext cx="5486400" cy="3683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 spc="-13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13" dirty="0">
                <a:latin typeface="Pretendard"/>
                <a:ea typeface="Pretendard"/>
                <a:cs typeface="Pretendard"/>
              </a:rPr>
              <a:t>KAIST IMMS  ·  2026 Fall  ·  AI Business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54200"/>
            <a:ext cx="9144000" cy="1778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2000"/>
              </a:lnSpc>
              <a:defRPr sz="5400" b="1" spc="-135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135" dirty="0">
                <a:latin typeface="Pretendard"/>
                <a:ea typeface="Pretendard"/>
                <a:cs typeface="Pretendard"/>
              </a:rPr>
              <a:t>회의 이후를</a:t>
            </a:r>
            <a:br/>
            <a:r>
              <a:rPr lang="ko-KR" spc="-135" dirty="0">
                <a:latin typeface="Pretendard"/>
                <a:ea typeface="Pretendard"/>
                <a:cs typeface="Pretendard"/>
              </a:rPr>
              <a:t>책임지는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86200"/>
            <a:ext cx="73152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400" b="1" spc="-60">
                <a:solidFill>
                  <a:srgbClr val="4ADE80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60" dirty="0">
                <a:latin typeface="Pretendard"/>
                <a:ea typeface="Pretendard"/>
                <a:cs typeface="Pretendard"/>
              </a:rPr>
              <a:t>FollowIt  ·  팔로잇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622800"/>
            <a:ext cx="274320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pc="-27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4876800"/>
            <a:ext cx="9601200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600" b="0" spc="-24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24" dirty="0">
                <a:latin typeface="Pretendard"/>
                <a:ea typeface="Pretendard"/>
                <a:cs typeface="Pretendard"/>
              </a:rPr>
              <a:t>회의의 맥락을 기억하고, 다음 액션을 끝까지 챙기는 AI 비서 (</a:t>
            </a:r>
            <a:r>
              <a:rPr lang="en-US" altLang="ko-KR" spc="-24" dirty="0">
                <a:latin typeface="Pretendard"/>
                <a:ea typeface="Pretendard"/>
                <a:cs typeface="Pretendard"/>
              </a:rPr>
              <a:t>F</a:t>
            </a:r>
            <a:r>
              <a:rPr lang="ko-KR" spc="-24" dirty="0" err="1">
                <a:latin typeface="Pretendard"/>
                <a:ea typeface="Pretendard"/>
                <a:cs typeface="Pretendard"/>
              </a:rPr>
              <a:t>ollow</a:t>
            </a:r>
            <a:r>
              <a:rPr lang="ko-KR" spc="-24" dirty="0">
                <a:latin typeface="Pretendard"/>
                <a:ea typeface="Pretendard"/>
                <a:cs typeface="Pretendard"/>
              </a:rPr>
              <a:t> + </a:t>
            </a:r>
            <a:r>
              <a:rPr lang="en-US" altLang="ko-KR" spc="-24" dirty="0">
                <a:latin typeface="Pretendard"/>
                <a:ea typeface="Pretendard"/>
                <a:cs typeface="Pretendard"/>
              </a:rPr>
              <a:t>I</a:t>
            </a:r>
            <a:r>
              <a:rPr lang="ko-KR" spc="-24" dirty="0" err="1">
                <a:latin typeface="Pretendard"/>
                <a:ea typeface="Pretendard"/>
                <a:cs typeface="Pretendard"/>
              </a:rPr>
              <a:t>t</a:t>
            </a:r>
            <a:r>
              <a:rPr lang="ko-KR" spc="-24" dirty="0"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4200"/>
            <a:ext cx="9144000" cy="279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 spc="-13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13" dirty="0">
                <a:latin typeface="Pretendard"/>
                <a:ea typeface="Pretendard"/>
                <a:cs typeface="Pretendard"/>
              </a:rPr>
              <a:t>TEAM_2 : 김신애 · 박승찬 · 신지엽 · 윤경혜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06100" y="6350000"/>
            <a:ext cx="5461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1000" b="0" spc="-1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10" dirty="0">
                <a:latin typeface="Pretendard"/>
                <a:ea typeface="Pretendard"/>
                <a:cs typeface="Pretendard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99305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640080"/>
            <a:ext cx="736600" cy="35560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0" tIns="25400" rIns="127000" bIns="25400" rtlCol="0" anchor="ctr"/>
          <a:lstStyle/>
          <a:p>
            <a:pPr algn="ctr">
              <a:defRPr sz="1100" b="1" spc="-11">
                <a:solidFill>
                  <a:srgbClr val="0F0F0F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11" dirty="0">
                <a:latin typeface="Pretendard"/>
                <a:ea typeface="Pretendard"/>
                <a:cs typeface="Pretendard"/>
              </a:rPr>
              <a:t>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4000" b="1" spc="-100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100" dirty="0">
                <a:latin typeface="Pretendard"/>
                <a:ea typeface="Pretendard"/>
                <a:cs typeface="Pretendard"/>
              </a:rPr>
              <a:t>회의는 끝났는데, 일은 시작되지 않는다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565400"/>
            <a:ext cx="4114800" cy="21971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pc="-27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1600" y="2794000"/>
            <a:ext cx="3302000" cy="1092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defRPr sz="7200" b="1" spc="-180">
                <a:solidFill>
                  <a:srgbClr val="FF6B4A"/>
                </a:solidFill>
                <a:latin typeface="Pretendard"/>
                <a:ea typeface="Pretendard"/>
                <a:cs typeface="Pretendard"/>
              </a:defRPr>
            </a:pPr>
            <a:r>
              <a:rPr spc="-180" dirty="0">
                <a:latin typeface="Pretendard"/>
                <a:ea typeface="Pretendard"/>
                <a:cs typeface="Pretendard"/>
              </a:rPr>
              <a:t>54%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62400"/>
            <a:ext cx="3302000" cy="558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defRPr sz="1400" b="0" spc="-2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21" dirty="0">
                <a:latin typeface="Pretendard"/>
                <a:ea typeface="Pretendard"/>
                <a:cs typeface="Pretendard"/>
              </a:rPr>
              <a:t>회의 후 다음 할 일·담당자를 모른 채</a:t>
            </a:r>
            <a:br/>
            <a:r>
              <a:rPr lang="ko-KR" spc="-21" dirty="0">
                <a:latin typeface="Pretendard"/>
                <a:ea typeface="Pretendard"/>
                <a:cs typeface="Pretendard"/>
              </a:rPr>
              <a:t>자리를 뜨는 직장인 비율¹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4200" y="2565400"/>
            <a:ext cx="5575300" cy="5969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pc="-27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969000" y="2565400"/>
            <a:ext cx="304800" cy="596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 spc="-27">
                <a:solidFill>
                  <a:srgbClr val="FF6B4A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27" dirty="0"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1600" y="2565400"/>
            <a:ext cx="4635500" cy="596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 spc="-23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lang="en-US" altLang="ko-KR" b="1" spc="-23" dirty="0">
                <a:latin typeface="Pretendard"/>
                <a:ea typeface="Pretendard"/>
                <a:cs typeface="Pretendard"/>
              </a:rPr>
              <a:t>R&amp;R</a:t>
            </a:r>
            <a:r>
              <a:rPr b="1" spc="-23" dirty="0">
                <a:latin typeface="Pretendard"/>
                <a:ea typeface="Pretendard"/>
                <a:cs typeface="Pretendard"/>
              </a:rPr>
              <a:t> </a:t>
            </a:r>
            <a:r>
              <a:rPr b="1" spc="-23" dirty="0" err="1">
                <a:latin typeface="Pretendard"/>
                <a:ea typeface="Pretendard"/>
                <a:cs typeface="Pretendard"/>
              </a:rPr>
              <a:t>불명확</a:t>
            </a:r>
            <a:r>
              <a:rPr b="1" spc="-23" dirty="0">
                <a:latin typeface="Pretendard"/>
                <a:ea typeface="Pretendard"/>
                <a:cs typeface="Pretendard"/>
              </a:rPr>
              <a:t> </a:t>
            </a:r>
            <a:r>
              <a:rPr spc="-23" dirty="0">
                <a:latin typeface="Pretendard"/>
                <a:ea typeface="Pretendard"/>
                <a:cs typeface="Pretendard"/>
              </a:rPr>
              <a:t>— "</a:t>
            </a:r>
            <a:r>
              <a:rPr spc="-23" dirty="0" err="1">
                <a:latin typeface="Pretendard"/>
                <a:ea typeface="Pretendard"/>
                <a:cs typeface="Pretendard"/>
              </a:rPr>
              <a:t>그거</a:t>
            </a:r>
            <a:r>
              <a:rPr spc="-23" dirty="0">
                <a:latin typeface="Pretendard"/>
                <a:ea typeface="Pretendard"/>
                <a:cs typeface="Pretendard"/>
              </a:rPr>
              <a:t> </a:t>
            </a:r>
            <a:r>
              <a:rPr spc="-23" dirty="0" err="1">
                <a:latin typeface="Pretendard"/>
                <a:ea typeface="Pretendard"/>
                <a:cs typeface="Pretendard"/>
              </a:rPr>
              <a:t>누가</a:t>
            </a:r>
            <a:r>
              <a:rPr spc="-23" dirty="0">
                <a:latin typeface="Pretendard"/>
                <a:ea typeface="Pretendard"/>
                <a:cs typeface="Pretendard"/>
              </a:rPr>
              <a:t> </a:t>
            </a:r>
            <a:r>
              <a:rPr spc="-23" dirty="0" err="1">
                <a:latin typeface="Pretendard"/>
                <a:ea typeface="Pretendard"/>
                <a:cs typeface="Pretendard"/>
              </a:rPr>
              <a:t>하기로</a:t>
            </a:r>
            <a:r>
              <a:rPr spc="-23" dirty="0">
                <a:latin typeface="Pretendard"/>
                <a:ea typeface="Pretendard"/>
                <a:cs typeface="Pretendard"/>
              </a:rPr>
              <a:t> </a:t>
            </a:r>
            <a:r>
              <a:rPr spc="-23" dirty="0" err="1">
                <a:latin typeface="Pretendard"/>
                <a:ea typeface="Pretendard"/>
                <a:cs typeface="Pretendard"/>
              </a:rPr>
              <a:t>했죠</a:t>
            </a:r>
            <a:r>
              <a:rPr spc="-23" dirty="0">
                <a:latin typeface="Pretendard"/>
                <a:ea typeface="Pretendard"/>
                <a:cs typeface="Pretendard"/>
              </a:rPr>
              <a:t>?"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4200" y="3365500"/>
            <a:ext cx="5575300" cy="5969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pc="-27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69000" y="3365500"/>
            <a:ext cx="304800" cy="596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 spc="-27">
                <a:solidFill>
                  <a:srgbClr val="FF6B4A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27" dirty="0"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1600" y="3365500"/>
            <a:ext cx="4635500" cy="596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 spc="-23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b="1" spc="-23" dirty="0" err="1">
                <a:latin typeface="Pretendard"/>
                <a:ea typeface="Pretendard"/>
                <a:cs typeface="Pretendard"/>
              </a:rPr>
              <a:t>기한</a:t>
            </a:r>
            <a:r>
              <a:rPr b="1" spc="-23" dirty="0">
                <a:latin typeface="Pretendard"/>
                <a:ea typeface="Pretendard"/>
                <a:cs typeface="Pretendard"/>
              </a:rPr>
              <a:t> </a:t>
            </a:r>
            <a:r>
              <a:rPr b="1" spc="-23" dirty="0" err="1">
                <a:latin typeface="Pretendard"/>
                <a:ea typeface="Pretendard"/>
                <a:cs typeface="Pretendard"/>
              </a:rPr>
              <a:t>모호</a:t>
            </a:r>
            <a:r>
              <a:rPr b="1" spc="-23" dirty="0">
                <a:latin typeface="Pretendard"/>
                <a:ea typeface="Pretendard"/>
                <a:cs typeface="Pretendard"/>
              </a:rPr>
              <a:t> </a:t>
            </a:r>
            <a:r>
              <a:rPr spc="-23" dirty="0">
                <a:latin typeface="Pretendard"/>
                <a:ea typeface="Pretendard"/>
                <a:cs typeface="Pretendard"/>
              </a:rPr>
              <a:t>— "</a:t>
            </a:r>
            <a:r>
              <a:rPr spc="-23" dirty="0" err="1">
                <a:latin typeface="Pretendard"/>
                <a:ea typeface="Pretendard"/>
                <a:cs typeface="Pretendard"/>
              </a:rPr>
              <a:t>다음</a:t>
            </a:r>
            <a:r>
              <a:rPr spc="-23" dirty="0">
                <a:latin typeface="Pretendard"/>
                <a:ea typeface="Pretendard"/>
                <a:cs typeface="Pretendard"/>
              </a:rPr>
              <a:t> </a:t>
            </a:r>
            <a:r>
              <a:rPr spc="-23" dirty="0" err="1">
                <a:latin typeface="Pretendard"/>
                <a:ea typeface="Pretendard"/>
                <a:cs typeface="Pretendard"/>
              </a:rPr>
              <a:t>주쯤</a:t>
            </a:r>
            <a:r>
              <a:rPr spc="-23" dirty="0">
                <a:latin typeface="Pretendard"/>
                <a:ea typeface="Pretendard"/>
                <a:cs typeface="Pretendard"/>
              </a:rPr>
              <a:t>", "</a:t>
            </a:r>
            <a:r>
              <a:rPr spc="-23" dirty="0" err="1">
                <a:latin typeface="Pretendard"/>
                <a:ea typeface="Pretendard"/>
                <a:cs typeface="Pretendard"/>
              </a:rPr>
              <a:t>가능한</a:t>
            </a:r>
            <a:r>
              <a:rPr spc="-23" dirty="0">
                <a:latin typeface="Pretendard"/>
                <a:ea typeface="Pretendard"/>
                <a:cs typeface="Pretendard"/>
              </a:rPr>
              <a:t> </a:t>
            </a:r>
            <a:r>
              <a:rPr spc="-23" dirty="0" err="1">
                <a:latin typeface="Pretendard"/>
                <a:ea typeface="Pretendard"/>
                <a:cs typeface="Pretendard"/>
              </a:rPr>
              <a:t>빨리</a:t>
            </a:r>
            <a:r>
              <a:rPr spc="-23" dirty="0">
                <a:latin typeface="Pretendard"/>
                <a:ea typeface="Pretendard"/>
                <a:cs typeface="Pretendard"/>
              </a:rPr>
              <a:t>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4200" y="4165600"/>
            <a:ext cx="5575300" cy="5969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pc="-27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69000" y="4165600"/>
            <a:ext cx="304800" cy="596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1800" b="1" spc="-27">
                <a:solidFill>
                  <a:srgbClr val="FF6B4A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27" dirty="0"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1600" y="4165600"/>
            <a:ext cx="4635500" cy="596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 spc="-23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lang="en-US" b="1" spc="-23" dirty="0">
                <a:latin typeface="Pretendard"/>
                <a:ea typeface="Pretendard"/>
                <a:cs typeface="Pretendard"/>
              </a:rPr>
              <a:t>F/U</a:t>
            </a:r>
            <a:r>
              <a:rPr b="1" spc="-23" dirty="0">
                <a:latin typeface="Pretendard"/>
                <a:ea typeface="Pretendard"/>
                <a:cs typeface="Pretendard"/>
              </a:rPr>
              <a:t> </a:t>
            </a:r>
            <a:r>
              <a:rPr b="1" spc="-23" dirty="0" err="1">
                <a:latin typeface="Pretendard"/>
                <a:ea typeface="Pretendard"/>
                <a:cs typeface="Pretendard"/>
              </a:rPr>
              <a:t>부재</a:t>
            </a:r>
            <a:r>
              <a:rPr spc="-23" dirty="0">
                <a:latin typeface="Pretendard"/>
                <a:ea typeface="Pretendard"/>
                <a:cs typeface="Pretendard"/>
              </a:rPr>
              <a:t> — </a:t>
            </a:r>
            <a:r>
              <a:rPr spc="-23" dirty="0" err="1">
                <a:latin typeface="Pretendard"/>
                <a:ea typeface="Pretendard"/>
                <a:cs typeface="Pretendard"/>
              </a:rPr>
              <a:t>다음</a:t>
            </a:r>
            <a:r>
              <a:rPr spc="-23" dirty="0">
                <a:latin typeface="Pretendard"/>
                <a:ea typeface="Pretendard"/>
                <a:cs typeface="Pretendard"/>
              </a:rPr>
              <a:t> </a:t>
            </a:r>
            <a:r>
              <a:rPr spc="-23" dirty="0" err="1">
                <a:latin typeface="Pretendard"/>
                <a:ea typeface="Pretendard"/>
                <a:cs typeface="Pretendard"/>
              </a:rPr>
              <a:t>회의에서</a:t>
            </a:r>
            <a:r>
              <a:rPr spc="-23" dirty="0">
                <a:latin typeface="Pretendard"/>
                <a:ea typeface="Pretendard"/>
                <a:cs typeface="Pretendard"/>
              </a:rPr>
              <a:t> </a:t>
            </a:r>
            <a:r>
              <a:rPr spc="-23" dirty="0" err="1">
                <a:latin typeface="Pretendard"/>
                <a:ea typeface="Pretendard"/>
                <a:cs typeface="Pretendard"/>
              </a:rPr>
              <a:t>확인</a:t>
            </a:r>
            <a:r>
              <a:rPr spc="-23" dirty="0">
                <a:latin typeface="Pretendard"/>
                <a:ea typeface="Pretendard"/>
                <a:cs typeface="Pretendard"/>
              </a:rPr>
              <a:t> </a:t>
            </a:r>
            <a:r>
              <a:rPr spc="-23" dirty="0" err="1">
                <a:latin typeface="Pretendard"/>
                <a:ea typeface="Pretendard"/>
                <a:cs typeface="Pretendard"/>
              </a:rPr>
              <a:t>없이</a:t>
            </a:r>
            <a:r>
              <a:rPr spc="-23" dirty="0">
                <a:latin typeface="Pretendard"/>
                <a:ea typeface="Pretendard"/>
                <a:cs typeface="Pretendard"/>
              </a:rPr>
              <a:t> </a:t>
            </a:r>
            <a:r>
              <a:rPr spc="-23" dirty="0" err="1">
                <a:latin typeface="Pretendard"/>
                <a:ea typeface="Pretendard"/>
                <a:cs typeface="Pretendard"/>
              </a:rPr>
              <a:t>넘어감</a:t>
            </a:r>
            <a:endParaRPr spc="-23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14400" y="5156200"/>
            <a:ext cx="1033272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pc="-27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4400" y="5359400"/>
            <a:ext cx="10058400" cy="609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35000"/>
              </a:lnSpc>
              <a:defRPr sz="1500" b="0" spc="-23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23" dirty="0">
                <a:latin typeface="Pretendard"/>
                <a:ea typeface="Pretendard"/>
                <a:cs typeface="Pretendard"/>
              </a:rPr>
              <a:t>PM이 회의록 정리 → 태스크 등록 → 진행 확인을 수작업으로 하고 있습니다.</a:t>
            </a:r>
            <a:br/>
            <a:r>
              <a:rPr lang="ko-KR" spc="-23" dirty="0">
                <a:latin typeface="Pretendard"/>
                <a:ea typeface="Pretendard"/>
                <a:cs typeface="Pretendard"/>
              </a:rPr>
              <a:t>이 일이 누락되는 순간, 결정사항은 사라집니다.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197600"/>
            <a:ext cx="7315200" cy="254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000" b="0" spc="-1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10" dirty="0">
                <a:latin typeface="Pretendard"/>
                <a:ea typeface="Pretendard"/>
                <a:cs typeface="Pretendard"/>
              </a:rPr>
              <a:t>1. Source: Atlassian, 지식근로자 5,000명 대상 설문 (2024)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06100" y="6350000"/>
            <a:ext cx="5461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1000" b="0" spc="-1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10" dirty="0">
                <a:latin typeface="Pretendard"/>
                <a:ea typeface="Pretendard"/>
                <a:cs typeface="Pretendard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83102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640080"/>
            <a:ext cx="736600" cy="355600"/>
          </a:xfrm>
          <a:prstGeom prst="rect">
            <a:avLst/>
          </a:prstGeom>
          <a:solidFill>
            <a:srgbClr val="F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0" tIns="25400" rIns="127000" bIns="25400" rtlCol="0" anchor="ctr"/>
          <a:lstStyle/>
          <a:p>
            <a:pPr algn="ctr">
              <a:defRPr sz="1100" b="1" spc="-11">
                <a:solidFill>
                  <a:srgbClr val="0F0F0F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11" dirty="0">
                <a:latin typeface="Pretendard"/>
                <a:ea typeface="Pretendard"/>
                <a:cs typeface="Pretendard"/>
              </a:rPr>
              <a:t>문제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4000" b="1" spc="-100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100" dirty="0">
                <a:latin typeface="Pretendard"/>
                <a:ea typeface="Pretendard"/>
                <a:cs typeface="Pretendard"/>
              </a:rPr>
              <a:t>기존 회의 AI는 '등록'에서 멈춘다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5029200" cy="3108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pc="-27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80160" y="2480310"/>
            <a:ext cx="4114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 spc="-21">
                <a:solidFill>
                  <a:srgbClr val="FF6B4A"/>
                </a:solidFill>
                <a:latin typeface="Pretendard"/>
                <a:ea typeface="Pretendard"/>
                <a:cs typeface="Pretendard"/>
              </a:defRPr>
            </a:pPr>
            <a:r>
              <a:rPr lang="ko-KR" b="1" spc="-21" dirty="0">
                <a:latin typeface="Pretendard"/>
                <a:ea typeface="Pretendard"/>
                <a:cs typeface="Pretendard"/>
              </a:rPr>
              <a:t>Circleback · Otter · 클로바노트 등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2926080"/>
            <a:ext cx="4297680" cy="127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pc="-27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82700" y="3086100"/>
            <a:ext cx="38100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0" spc="-21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spc="-21" dirty="0" err="1">
                <a:latin typeface="Pretendard"/>
                <a:ea typeface="Pretendard"/>
                <a:cs typeface="Pretendard"/>
              </a:rPr>
              <a:t>녹음</a:t>
            </a:r>
            <a:endParaRPr spc="-21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82700" y="3467100"/>
            <a:ext cx="38100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0" spc="-21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21" dirty="0">
                <a:latin typeface="Pretendard"/>
                <a:ea typeface="Pretendard"/>
                <a:cs typeface="Pretendard"/>
              </a:rPr>
              <a:t>AI 요약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2700" y="3835400"/>
            <a:ext cx="38100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0" spc="-21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21" dirty="0">
                <a:latin typeface="Pretendard"/>
                <a:ea typeface="Pretendard"/>
                <a:cs typeface="Pretendard"/>
              </a:rPr>
              <a:t>액션아이템 추출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2700" y="4216400"/>
            <a:ext cx="38100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0" spc="-21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21" dirty="0">
                <a:latin typeface="Pretendard"/>
                <a:ea typeface="Pretendard"/>
                <a:cs typeface="Pretendard"/>
              </a:rPr>
              <a:t>태스크 등록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724762"/>
            <a:ext cx="36576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300" b="0" spc="-13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pc="-13" dirty="0">
                <a:latin typeface="Pretendard"/>
                <a:ea typeface="Pretendard"/>
                <a:cs typeface="Pretendard"/>
              </a:rPr>
              <a:t>─── </a:t>
            </a:r>
            <a:r>
              <a:rPr spc="-13" dirty="0" err="1">
                <a:latin typeface="Pretendard"/>
                <a:ea typeface="Pretendard"/>
                <a:cs typeface="Pretendard"/>
              </a:rPr>
              <a:t>여기서</a:t>
            </a:r>
            <a:r>
              <a:rPr spc="-13" dirty="0">
                <a:latin typeface="Pretendard"/>
                <a:ea typeface="Pretendard"/>
                <a:cs typeface="Pretendard"/>
              </a:rPr>
              <a:t> </a:t>
            </a:r>
            <a:r>
              <a:rPr spc="-13" dirty="0" err="1">
                <a:latin typeface="Pretendard"/>
                <a:ea typeface="Pretendard"/>
                <a:cs typeface="Pretendard"/>
              </a:rPr>
              <a:t>끝</a:t>
            </a:r>
            <a:r>
              <a:rPr spc="-13" dirty="0">
                <a:latin typeface="Pretendard"/>
                <a:ea typeface="Pretendard"/>
                <a:cs typeface="Pretendard"/>
              </a:rPr>
              <a:t> ───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286000"/>
            <a:ext cx="5029200" cy="310896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pc="-27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83680" y="2480310"/>
            <a:ext cx="41148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1" spc="-21">
                <a:solidFill>
                  <a:srgbClr val="4ADE80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21" dirty="0">
                <a:latin typeface="Pretendard"/>
                <a:ea typeface="Pretendard"/>
                <a:cs typeface="Pretendard"/>
              </a:rPr>
              <a:t>FollowIt (팔로잇)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2926080"/>
            <a:ext cx="4297680" cy="127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pc="-27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78600" y="3086100"/>
            <a:ext cx="3429000" cy="30008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50" b="0" spc="-14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pc="-14" dirty="0">
                <a:latin typeface="Pretendard"/>
                <a:ea typeface="Pretendard"/>
                <a:cs typeface="Pretendard"/>
              </a:rPr>
              <a:t>녹음 </a:t>
            </a:r>
            <a:r>
              <a:rPr lang="en-US" altLang="ko-KR" spc="-14" dirty="0">
                <a:latin typeface="Pretendard"/>
                <a:ea typeface="Pretendard"/>
                <a:cs typeface="Pretendard"/>
              </a:rPr>
              <a:t>&gt;</a:t>
            </a:r>
            <a:r>
              <a:rPr lang="ko-KR" altLang="en-US" spc="-14" dirty="0">
                <a:latin typeface="Pretendard"/>
                <a:ea typeface="Pretendard"/>
                <a:cs typeface="Pretendard"/>
              </a:rPr>
              <a:t> 요약 </a:t>
            </a:r>
            <a:r>
              <a:rPr lang="en-US" altLang="ko-KR" spc="-14" dirty="0">
                <a:latin typeface="Pretendard"/>
                <a:ea typeface="Pretendard"/>
                <a:cs typeface="Pretendard"/>
              </a:rPr>
              <a:t>&gt;</a:t>
            </a:r>
            <a:r>
              <a:rPr lang="ko-KR" altLang="en-US" spc="-14" dirty="0">
                <a:latin typeface="Pretendard"/>
                <a:ea typeface="Pretendard"/>
                <a:cs typeface="Pretendard"/>
              </a:rPr>
              <a:t> 추출 </a:t>
            </a:r>
            <a:r>
              <a:rPr lang="en-US" altLang="ko-KR" spc="-14" dirty="0">
                <a:latin typeface="Pretendard"/>
                <a:ea typeface="Pretendard"/>
                <a:cs typeface="Pretendard"/>
              </a:rPr>
              <a:t>&gt;</a:t>
            </a:r>
            <a:r>
              <a:rPr lang="ko-KR" altLang="en-US" spc="-14" dirty="0">
                <a:latin typeface="Pretendard"/>
                <a:ea typeface="Pretendard"/>
                <a:cs typeface="Pretendard"/>
              </a:rPr>
              <a:t> 등록</a:t>
            </a:r>
            <a:endParaRPr lang="ko-KR" spc="-14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134600" y="3086100"/>
            <a:ext cx="736600" cy="26161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1100" b="0" spc="-1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pc="-11" dirty="0">
                <a:latin typeface="Pretendard"/>
                <a:ea typeface="Pretendard"/>
                <a:cs typeface="Pretendard"/>
              </a:rPr>
              <a:t>기존</a:t>
            </a:r>
            <a:endParaRPr lang="ko-KR" spc="-11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78600" y="3467100"/>
            <a:ext cx="3429000" cy="30008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50" b="0" spc="-14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ko-KR" spc="-14" dirty="0">
                <a:latin typeface="Pretendard"/>
                <a:ea typeface="Pretendard"/>
                <a:cs typeface="Pretendard"/>
              </a:rPr>
              <a:t>기존 녹음</a:t>
            </a:r>
            <a:r>
              <a:rPr lang="ko-KR" altLang="en-US" spc="-14" dirty="0"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pc="-14" dirty="0">
                <a:latin typeface="Pretendard"/>
                <a:ea typeface="Pretendard"/>
                <a:cs typeface="Pretendard"/>
              </a:rPr>
              <a:t>APP</a:t>
            </a:r>
            <a:r>
              <a:rPr lang="ko-KR" altLang="ko-KR" spc="-14" dirty="0">
                <a:latin typeface="Pretendard"/>
                <a:ea typeface="Pretendard"/>
                <a:cs typeface="Pretendard"/>
              </a:rPr>
              <a:t> 연결 (MCP/API)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34600" y="3467100"/>
            <a:ext cx="7366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1100" b="1" spc="-11">
                <a:solidFill>
                  <a:srgbClr val="4ADE80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11" dirty="0">
                <a:latin typeface="Pretendard"/>
                <a:ea typeface="Pretendard"/>
                <a:cs typeface="Pretendard"/>
              </a:rPr>
              <a:t>NEW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8600" y="3835400"/>
            <a:ext cx="3429000" cy="30008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50" b="0" spc="-14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ko-KR" spc="-14" dirty="0">
                <a:latin typeface="Pretendard"/>
                <a:ea typeface="Pretendard"/>
                <a:cs typeface="Pretendard"/>
              </a:rPr>
              <a:t>회의 연결 · 맥락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34600" y="3835400"/>
            <a:ext cx="7366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1100" b="1" spc="-11">
                <a:solidFill>
                  <a:srgbClr val="4ADE80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11" dirty="0">
                <a:latin typeface="Pretendard"/>
                <a:ea typeface="Pretendard"/>
                <a:cs typeface="Pretendard"/>
              </a:rPr>
              <a:t>NEW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8600" y="4216400"/>
            <a:ext cx="3429000" cy="30008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50" b="0" spc="-14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ko-KR" spc="-14" dirty="0">
                <a:latin typeface="Pretendard"/>
                <a:ea typeface="Pretendard"/>
                <a:cs typeface="Pretendard"/>
              </a:rPr>
              <a:t>액션 추출 + R&amp;R 추천 + HITL 확인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34600" y="4216400"/>
            <a:ext cx="7366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1100" b="1" spc="-11">
                <a:solidFill>
                  <a:srgbClr val="4ADE80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11" dirty="0">
                <a:latin typeface="Pretendard"/>
                <a:ea typeface="Pretendard"/>
                <a:cs typeface="Pretendard"/>
              </a:rPr>
              <a:t>NEW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78600" y="4584700"/>
            <a:ext cx="3429000" cy="30008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350" b="0" spc="-14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ko-KR" spc="-14" dirty="0">
                <a:latin typeface="Pretendard"/>
                <a:ea typeface="Pretendard"/>
                <a:cs typeface="Pretendard"/>
              </a:rPr>
              <a:t>선행관계 기반 타임라인 제안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34600" y="4584700"/>
            <a:ext cx="7366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1100" b="1" spc="-11">
                <a:solidFill>
                  <a:srgbClr val="4ADE80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11" dirty="0">
                <a:latin typeface="Pretendard"/>
                <a:ea typeface="Pretendard"/>
                <a:cs typeface="Pretendard"/>
              </a:rPr>
              <a:t>NEW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69280"/>
            <a:ext cx="105156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2000" b="1" spc="-30">
                <a:solidFill>
                  <a:srgbClr val="4ADE80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30" dirty="0">
                <a:latin typeface="Pretendard"/>
                <a:ea typeface="Pretendard"/>
                <a:cs typeface="Pretendard"/>
              </a:rPr>
              <a:t>“기존 도구는 회의를 기록합니다.  우리는 회의를 완결합니다.”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6126480"/>
            <a:ext cx="10515600" cy="2923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00" b="0" spc="-13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13" dirty="0">
                <a:latin typeface="Pretendard"/>
                <a:ea typeface="Pretendard"/>
                <a:cs typeface="Pretendard"/>
              </a:rPr>
              <a:t>녹음·전사·추출은 기존 앱 위에 올라타고, </a:t>
            </a:r>
            <a:r>
              <a:rPr lang="ko-KR" u="sng" spc="-13" dirty="0">
                <a:latin typeface="Pretendard"/>
                <a:ea typeface="Pretendard"/>
                <a:cs typeface="Pretendard"/>
              </a:rPr>
              <a:t>회의 연결 · 확인 · 추적 · 완결에 집중</a:t>
            </a:r>
            <a:r>
              <a:rPr lang="ko-KR" spc="-13" dirty="0">
                <a:latin typeface="Pretendard"/>
                <a:ea typeface="Pretendard"/>
                <a:cs typeface="Pretendard"/>
              </a:rPr>
              <a:t>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06100" y="6350000"/>
            <a:ext cx="5461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1000" b="0" spc="-1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10" dirty="0"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57F5745-3520-0DFF-EB6F-76BEFD947D64}"/>
              </a:ext>
            </a:extLst>
          </p:cNvPr>
          <p:cNvSpPr txBox="1"/>
          <p:nvPr/>
        </p:nvSpPr>
        <p:spPr>
          <a:xfrm>
            <a:off x="6578600" y="4940300"/>
            <a:ext cx="3429000" cy="30008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50" b="0" spc="-14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pc="-14" dirty="0">
                <a:latin typeface="Pretendard"/>
                <a:ea typeface="Pretendard"/>
                <a:cs typeface="Pretendard"/>
              </a:rPr>
              <a:t>지속적인 후속관리</a:t>
            </a:r>
            <a:r>
              <a:rPr lang="en-US" altLang="ko-KR" spc="-14" dirty="0">
                <a:latin typeface="Pretendard"/>
                <a:ea typeface="Pretendard"/>
                <a:cs typeface="Pretendard"/>
              </a:rPr>
              <a:t>(F/U Tracking)</a:t>
            </a:r>
            <a:endParaRPr spc="-14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DCD9F7C-6AB4-E69B-CC90-353D76F60A14}"/>
              </a:ext>
            </a:extLst>
          </p:cNvPr>
          <p:cNvSpPr txBox="1"/>
          <p:nvPr/>
        </p:nvSpPr>
        <p:spPr>
          <a:xfrm>
            <a:off x="10134600" y="4940300"/>
            <a:ext cx="7366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1100" b="1" spc="-11">
                <a:solidFill>
                  <a:srgbClr val="4ADE80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11" dirty="0">
                <a:latin typeface="Pretendard"/>
                <a:ea typeface="Pretendard"/>
                <a:cs typeface="Pretendard"/>
              </a:rPr>
              <a:t>NEW</a:t>
            </a:r>
          </a:p>
        </p:txBody>
      </p:sp>
    </p:spTree>
    <p:extLst>
      <p:ext uri="{BB962C8B-B14F-4D97-AF65-F5344CB8AC3E}">
        <p14:creationId xmlns:p14="http://schemas.microsoft.com/office/powerpoint/2010/main" val="3535458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640080"/>
            <a:ext cx="914400" cy="35560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0" tIns="25400" rIns="127000" bIns="25400" rtlCol="0" anchor="ctr"/>
          <a:lstStyle/>
          <a:p>
            <a:pPr algn="ctr">
              <a:defRPr sz="1100" b="1" spc="-11">
                <a:solidFill>
                  <a:srgbClr val="0F0F0F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11" dirty="0">
                <a:latin typeface="Pretendard"/>
                <a:ea typeface="Pretendard"/>
                <a:cs typeface="Pretendard"/>
              </a:rPr>
              <a:t>솔루션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5156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4000" b="1" spc="-100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100" dirty="0">
                <a:latin typeface="Pretendard"/>
                <a:ea typeface="Pretendard"/>
                <a:cs typeface="Pretendard"/>
              </a:rPr>
              <a:t>회의를 기억하고, 연결하고, 끝까지 챙긴다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1823720" cy="1828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pc="-27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7600" y="2540000"/>
            <a:ext cx="141732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sz="2800" b="1" spc="-70">
                <a:solidFill>
                  <a:srgbClr val="4ADE80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70" dirty="0"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7600" y="2971800"/>
            <a:ext cx="141732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sz="1600" b="1" spc="-24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24" dirty="0">
                <a:latin typeface="Pretendard"/>
                <a:ea typeface="Pretendard"/>
                <a:cs typeface="Pretendard"/>
              </a:rPr>
              <a:t>연동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600" y="3403600"/>
            <a:ext cx="141732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defRPr sz="1400" b="0" spc="-2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lang="ko-KR" sz="1400" spc="-21" dirty="0">
                <a:latin typeface="Pretendard"/>
                <a:ea typeface="Pretendard"/>
                <a:cs typeface="Pretendard"/>
              </a:rPr>
              <a:t>녹음앱 연결 (MCP)</a:t>
            </a:r>
            <a:br/>
            <a:r>
              <a:rPr lang="ko-KR" sz="1400" spc="-21" dirty="0">
                <a:latin typeface="Pretendard"/>
                <a:ea typeface="Pretendard"/>
                <a:cs typeface="Pretendard"/>
              </a:rPr>
              <a:t>전사문 가져오기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38120" y="3022600"/>
            <a:ext cx="304800" cy="355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2000" b="0" spc="-3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30" dirty="0"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42920" y="2286000"/>
            <a:ext cx="1823720" cy="1828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pc="-27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46120" y="2540000"/>
            <a:ext cx="141732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sz="2800" b="1" spc="-70">
                <a:solidFill>
                  <a:srgbClr val="4ADE80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70" dirty="0"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971800"/>
            <a:ext cx="141732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sz="1600" b="1" spc="-24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24" dirty="0">
                <a:latin typeface="Pretendard"/>
                <a:ea typeface="Pretendard"/>
                <a:cs typeface="Pretendard"/>
              </a:rPr>
              <a:t>회의 연결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403600"/>
            <a:ext cx="141732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defRPr sz="1400" b="0" spc="-2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lang="ko-KR" sz="1400" spc="-21" dirty="0">
                <a:latin typeface="Pretendard"/>
                <a:ea typeface="Pretendard"/>
                <a:cs typeface="Pretendard"/>
              </a:rPr>
              <a:t>이전 회의와 묶기</a:t>
            </a:r>
            <a:br/>
            <a:r>
              <a:rPr lang="ko-KR" sz="1400" spc="-21" dirty="0">
                <a:latin typeface="Pretendard"/>
                <a:ea typeface="Pretendard"/>
                <a:cs typeface="Pretendard"/>
              </a:rPr>
              <a:t>기존 액션 이어 추적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6640" y="3022600"/>
            <a:ext cx="304800" cy="355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2000" b="0" spc="-3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30" dirty="0"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71440" y="2286000"/>
            <a:ext cx="1823720" cy="1828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pc="-27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374640" y="2540000"/>
            <a:ext cx="141732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sz="2800" b="1" spc="-70">
                <a:solidFill>
                  <a:srgbClr val="4ADE80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70" dirty="0"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74640" y="2971800"/>
            <a:ext cx="141732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sz="1600" b="1" spc="-24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24" dirty="0">
                <a:latin typeface="Pretendard"/>
                <a:ea typeface="Pretendard"/>
                <a:cs typeface="Pretendard"/>
              </a:rPr>
              <a:t>액션 · R&amp;R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74640" y="3403600"/>
            <a:ext cx="141732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defRPr sz="1400" b="0" spc="-2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lang="ko-KR" sz="1400" spc="-21" dirty="0">
                <a:latin typeface="Pretendard"/>
                <a:ea typeface="Pretendard"/>
                <a:cs typeface="Pretendard"/>
              </a:rPr>
              <a:t>액션 추출·R&amp;R 추천</a:t>
            </a:r>
            <a:br/>
            <a:r>
              <a:rPr lang="ko-KR" sz="1400" spc="-21" dirty="0">
                <a:latin typeface="Pretendard"/>
                <a:ea typeface="Pretendard"/>
                <a:cs typeface="Pretendard"/>
              </a:rPr>
              <a:t>모호하면 HITL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3022600"/>
            <a:ext cx="304800" cy="355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2000" b="0" spc="-3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30" dirty="0"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9960" y="2286000"/>
            <a:ext cx="1823720" cy="1828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pc="-27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503160" y="2540000"/>
            <a:ext cx="141732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sz="2800" b="1" spc="-70">
                <a:solidFill>
                  <a:srgbClr val="4ADE80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70" dirty="0"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03160" y="2971800"/>
            <a:ext cx="141732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sz="1600" b="1" spc="-24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24" dirty="0">
                <a:latin typeface="Pretendard"/>
                <a:ea typeface="Pretendard"/>
                <a:cs typeface="Pretendard"/>
              </a:rPr>
              <a:t>타임라인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03160" y="3403600"/>
            <a:ext cx="141732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defRPr sz="1400" b="0" spc="-2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lang="ko-KR" sz="1400" spc="-21" dirty="0">
                <a:latin typeface="Pretendard"/>
                <a:ea typeface="Pretendard"/>
                <a:cs typeface="Pretendard"/>
              </a:rPr>
              <a:t>기한·선행관계 역산</a:t>
            </a:r>
            <a:br/>
            <a:r>
              <a:rPr lang="ko-KR" sz="1400" spc="-21" dirty="0">
                <a:latin typeface="Pretendard"/>
                <a:ea typeface="Pretendard"/>
                <a:cs typeface="Pretendard"/>
              </a:rPr>
              <a:t>변경사항 반영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23680" y="3022600"/>
            <a:ext cx="304800" cy="355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2000" b="0" spc="-3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30" dirty="0">
                <a:latin typeface="Pretendard"/>
                <a:ea typeface="Pretendard"/>
                <a:cs typeface="Pretendard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28480" y="2286000"/>
            <a:ext cx="1823720" cy="18288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pc="-27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631680" y="2540000"/>
            <a:ext cx="141732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sz="2800" b="1" spc="-70">
                <a:solidFill>
                  <a:srgbClr val="4ADE80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70" dirty="0"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31680" y="2971800"/>
            <a:ext cx="141732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sz="1600" b="1" spc="-24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24" dirty="0">
                <a:latin typeface="Pretendard"/>
                <a:ea typeface="Pretendard"/>
                <a:cs typeface="Pretendard"/>
              </a:rPr>
              <a:t>후속관리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31680" y="3403600"/>
            <a:ext cx="141732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defRPr sz="1400" b="0" spc="-2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lang="ko-KR" sz="1400" spc="-21" dirty="0">
                <a:latin typeface="Pretendard"/>
                <a:ea typeface="Pretendard"/>
                <a:cs typeface="Pretendard"/>
              </a:rPr>
              <a:t>진행 확인·답변 해석</a:t>
            </a:r>
            <a:br/>
            <a:r>
              <a:rPr lang="ko-KR" sz="1400" spc="-21" dirty="0">
                <a:latin typeface="Pretendard"/>
                <a:ea typeface="Pretendard"/>
                <a:cs typeface="Pretendard"/>
              </a:rPr>
              <a:t>미완료 → 다음 안건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292600"/>
            <a:ext cx="75895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>
              <a:defRPr sz="1500" b="1" spc="-23">
                <a:solidFill>
                  <a:srgbClr val="4ADE80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23" dirty="0">
                <a:latin typeface="Pretendard"/>
                <a:ea typeface="Pretendard"/>
                <a:cs typeface="Pretendard"/>
              </a:rPr>
              <a:t>↻  다음 회의 녹음 → 이전 회의·액션과 자동 연결  (closed loop)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4800600"/>
            <a:ext cx="1033272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pc="-27"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14400" y="5003800"/>
            <a:ext cx="54864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500" b="1" spc="-23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lang="ko-KR" sz="1500" spc="-23" dirty="0">
                <a:latin typeface="Pretendard"/>
                <a:ea typeface="Pretendard"/>
                <a:cs typeface="Pretendard"/>
              </a:rPr>
              <a:t>왜 AI여야 하는가 (규칙으로는 불가능한 3가지)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384800"/>
            <a:ext cx="10515600" cy="9951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  <a:defRPr sz="1400" b="0" spc="-2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lang="ko-KR" sz="1400" spc="-21" dirty="0">
                <a:latin typeface="Pretendard"/>
                <a:ea typeface="Pretendard"/>
                <a:cs typeface="Pretendard"/>
              </a:rPr>
              <a:t>“그건 제가 한번 볼게요”  →  액션아이템 판단 (한국어 화법 맥락)</a:t>
            </a:r>
          </a:p>
          <a:p>
            <a:pPr algn="l">
              <a:spcAft>
                <a:spcPts val="1000"/>
              </a:spcAft>
              <a:defRPr sz="1400" b="0" spc="-2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lang="ko-KR" sz="1400" spc="-21" dirty="0">
                <a:latin typeface="Pretendard"/>
                <a:ea typeface="Pretendard"/>
                <a:cs typeface="Pretendard"/>
              </a:rPr>
              <a:t>“</a:t>
            </a:r>
            <a:r>
              <a:rPr lang="ko-KR" altLang="en-US" sz="1400" spc="-21" dirty="0">
                <a:latin typeface="Pretendard"/>
                <a:ea typeface="Pretendard"/>
                <a:cs typeface="Pretendard"/>
              </a:rPr>
              <a:t>다음 보고</a:t>
            </a:r>
            <a:r>
              <a:rPr lang="ko-KR" sz="1400" spc="-21" dirty="0">
                <a:latin typeface="Pretendard"/>
                <a:ea typeface="Pretendard"/>
                <a:cs typeface="Pretendard"/>
              </a:rPr>
              <a:t> 전까지는 돼야죠”  →  암묵적 기한을 실제 날짜로 변환</a:t>
            </a:r>
          </a:p>
          <a:p>
            <a:pPr algn="l">
              <a:spcAft>
                <a:spcPts val="1000"/>
              </a:spcAft>
              <a:defRPr sz="1400" b="0" spc="-2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lang="ko-KR" sz="1400" spc="-21" dirty="0">
                <a:latin typeface="Pretendard"/>
                <a:ea typeface="Pretendard"/>
                <a:cs typeface="Pretendard"/>
              </a:rPr>
              <a:t>“자료가 아직 안 와서요”  →  막힘(blocker) 상태 자동 분류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06100" y="6350000"/>
            <a:ext cx="5486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1000" b="0" spc="-1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10" dirty="0">
                <a:latin typeface="Pretendard"/>
                <a:ea typeface="Pretendard"/>
                <a:cs typeface="Pretendard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7497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640080"/>
            <a:ext cx="1270000" cy="35560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0" tIns="25400" rIns="127000" bIns="25400" rtlCol="0" anchor="ctr"/>
          <a:lstStyle/>
          <a:p>
            <a:pPr algn="ctr">
              <a:defRPr sz="1100" b="1" spc="-11">
                <a:solidFill>
                  <a:srgbClr val="0F0F0F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11" dirty="0">
                <a:latin typeface="Pretendard"/>
                <a:ea typeface="Pretendard"/>
                <a:cs typeface="Pretendard"/>
              </a:rPr>
              <a:t>성공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5156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4000" b="1" spc="-100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100" dirty="0">
                <a:latin typeface="Pretendard"/>
                <a:ea typeface="Pretendard"/>
                <a:cs typeface="Pretendard"/>
              </a:rPr>
              <a:t>회의 이후, 사람이 챙기는 부담이 줄었는가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235200"/>
            <a:ext cx="3259667" cy="2997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pc="-27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70000" y="2616200"/>
            <a:ext cx="2548467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sz="2400" b="1" spc="-60">
                <a:solidFill>
                  <a:srgbClr val="4ADE80"/>
                </a:solidFill>
                <a:latin typeface="Pretendard"/>
                <a:ea typeface="Pretendard"/>
                <a:cs typeface="Pretendard"/>
              </a:defRPr>
            </a:pPr>
            <a:r>
              <a:rPr lang="ko-KR" sz="2400" b="1" spc="-60" dirty="0">
                <a:solidFill>
                  <a:srgbClr val="4ADE80"/>
                </a:solidFill>
                <a:latin typeface="Pretendard"/>
                <a:ea typeface="Pretendard"/>
                <a:cs typeface="Pretendard"/>
              </a:rPr>
              <a:t>추적 정확성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70000" y="3149600"/>
            <a:ext cx="2548467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defRPr sz="1500" b="0" spc="-23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lang="ko-KR" sz="1500" b="0" spc="-23" dirty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연결된 회의의 액션을</a:t>
            </a:r>
            <a:br/>
            <a:r>
              <a:rPr lang="ko-KR" sz="1500" b="0" spc="-23" dirty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빠짐없이 잇는가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70000" y="3987800"/>
            <a:ext cx="2548467" cy="127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pc="-27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70000" y="4216400"/>
            <a:ext cx="2548467" cy="787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000"/>
              </a:spcAft>
              <a:defRPr sz="1600" b="0" spc="-24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sz="1600" spc="-24" dirty="0" err="1">
                <a:latin typeface="Pretendard"/>
                <a:ea typeface="Pretendard"/>
                <a:cs typeface="Pretendard"/>
              </a:rPr>
              <a:t>액션</a:t>
            </a:r>
            <a:r>
              <a:rPr sz="1600" spc="-24" dirty="0">
                <a:latin typeface="Pretendard"/>
                <a:ea typeface="Pretendard"/>
                <a:cs typeface="Pretendard"/>
              </a:rPr>
              <a:t> </a:t>
            </a:r>
            <a:r>
              <a:rPr sz="1600" spc="-24" dirty="0" err="1">
                <a:latin typeface="Pretendard"/>
                <a:ea typeface="Pretendard"/>
                <a:cs typeface="Pretendard"/>
              </a:rPr>
              <a:t>누락</a:t>
            </a:r>
            <a:r>
              <a:rPr sz="1600" spc="-24" dirty="0">
                <a:latin typeface="Pretendard"/>
                <a:ea typeface="Pretendard"/>
                <a:cs typeface="Pretendard"/>
              </a:rPr>
              <a:t> · </a:t>
            </a:r>
            <a:r>
              <a:rPr sz="1600" spc="-24" dirty="0" err="1">
                <a:latin typeface="Pretendard"/>
                <a:ea typeface="Pretendard"/>
                <a:cs typeface="Pretendard"/>
              </a:rPr>
              <a:t>중복</a:t>
            </a:r>
            <a:r>
              <a:rPr sz="1600" spc="-24" dirty="0"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600" spc="-24" dirty="0" err="1">
                <a:solidFill>
                  <a:srgbClr val="F5F5F5"/>
                </a:solidFill>
                <a:latin typeface="Pretendard"/>
                <a:ea typeface="Pretendard"/>
                <a:cs typeface="Pretendard"/>
              </a:rPr>
              <a:t>절감율</a:t>
            </a:r>
            <a:endParaRPr spc="-24" dirty="0">
              <a:latin typeface="Pretendard"/>
              <a:ea typeface="Pretendard"/>
              <a:cs typeface="Pretendard"/>
            </a:endParaRPr>
          </a:p>
          <a:p>
            <a:pPr algn="l">
              <a:spcAft>
                <a:spcPts val="1000"/>
              </a:spcAft>
              <a:defRPr sz="1600" b="0" spc="-24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sz="1600" spc="-24" dirty="0" err="1">
                <a:latin typeface="Pretendard"/>
                <a:ea typeface="Pretendard"/>
                <a:cs typeface="Pretendard"/>
              </a:rPr>
              <a:t>담당자</a:t>
            </a:r>
            <a:r>
              <a:rPr sz="1600" spc="-24" dirty="0">
                <a:latin typeface="Pretendard"/>
                <a:ea typeface="Pretendard"/>
                <a:cs typeface="Pretendard"/>
              </a:rPr>
              <a:t> · </a:t>
            </a:r>
            <a:r>
              <a:rPr sz="1600" spc="-24" dirty="0" err="1">
                <a:latin typeface="Pretendard"/>
                <a:ea typeface="Pretendard"/>
                <a:cs typeface="Pretendard"/>
              </a:rPr>
              <a:t>기한</a:t>
            </a:r>
            <a:r>
              <a:rPr sz="1600" spc="-24" dirty="0">
                <a:latin typeface="Pretendard"/>
                <a:ea typeface="Pretendard"/>
                <a:cs typeface="Pretendard"/>
              </a:rPr>
              <a:t> </a:t>
            </a:r>
            <a:r>
              <a:rPr sz="1600" spc="-24" dirty="0" err="1">
                <a:latin typeface="Pretendard"/>
                <a:ea typeface="Pretendard"/>
                <a:cs typeface="Pretendard"/>
              </a:rPr>
              <a:t>수정</a:t>
            </a:r>
            <a:r>
              <a:rPr sz="1600" spc="-24" dirty="0"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600" spc="-24" dirty="0" err="1">
                <a:latin typeface="Pretendard"/>
                <a:ea typeface="Pretendard"/>
                <a:cs typeface="Pretendard"/>
              </a:rPr>
              <a:t>절감율</a:t>
            </a:r>
            <a:endParaRPr spc="-24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453467" y="2235200"/>
            <a:ext cx="3259667" cy="2997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pc="-27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809067" y="2616200"/>
            <a:ext cx="2548467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sz="2400" b="1" spc="-60">
                <a:solidFill>
                  <a:srgbClr val="4ADE80"/>
                </a:solidFill>
                <a:latin typeface="Pretendard"/>
                <a:ea typeface="Pretendard"/>
                <a:cs typeface="Pretendard"/>
              </a:defRPr>
            </a:pPr>
            <a:r>
              <a:rPr lang="ko-KR" sz="2400" b="1" spc="-60" dirty="0">
                <a:solidFill>
                  <a:srgbClr val="4ADE80"/>
                </a:solidFill>
                <a:latin typeface="Pretendard"/>
                <a:ea typeface="Pretendard"/>
                <a:cs typeface="Pretendard"/>
              </a:rPr>
              <a:t>후속관리 신뢰성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9067" y="3149600"/>
            <a:ext cx="2548467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defRPr sz="1500" b="0" spc="-23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lang="ko-KR" sz="1500" b="0" spc="-23" dirty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제때 확인하고,</a:t>
            </a:r>
            <a:br/>
            <a:r>
              <a:rPr lang="ko-KR" sz="1500" b="0" spc="-23" dirty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제대로 반영하는가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9067" y="3987800"/>
            <a:ext cx="2548467" cy="127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pc="-27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09067" y="4216400"/>
            <a:ext cx="2548467" cy="787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000"/>
              </a:spcAft>
              <a:defRPr sz="1600" b="0" spc="-24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lang="ko-KR" sz="1600" b="0" spc="-24" dirty="0">
                <a:solidFill>
                  <a:srgbClr val="F5F5F5"/>
                </a:solidFill>
                <a:latin typeface="Pretendard"/>
                <a:ea typeface="Pretendard"/>
                <a:cs typeface="Pretendard"/>
              </a:rPr>
              <a:t>예정된 F/U 정상 처리율</a:t>
            </a:r>
          </a:p>
          <a:p>
            <a:pPr algn="l">
              <a:spcAft>
                <a:spcPts val="1000"/>
              </a:spcAft>
              <a:defRPr sz="1600" b="0" spc="-24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lang="ko-KR" sz="1600" b="0" spc="-24" dirty="0">
                <a:solidFill>
                  <a:srgbClr val="F5F5F5"/>
                </a:solidFill>
                <a:latin typeface="Pretendard"/>
                <a:ea typeface="Pretendard"/>
                <a:cs typeface="Pretendard"/>
              </a:rPr>
              <a:t>누락 · 불필요 알림 건수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92533" y="2235200"/>
            <a:ext cx="3259667" cy="2997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pc="-27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48133" y="2616200"/>
            <a:ext cx="2548467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defRPr sz="2400" b="1" spc="-60">
                <a:solidFill>
                  <a:srgbClr val="4ADE80"/>
                </a:solidFill>
                <a:latin typeface="Pretendard"/>
                <a:ea typeface="Pretendard"/>
                <a:cs typeface="Pretendard"/>
              </a:defRPr>
            </a:pPr>
            <a:r>
              <a:rPr lang="ko-KR" sz="2400" b="1" spc="-60" dirty="0">
                <a:solidFill>
                  <a:srgbClr val="4ADE80"/>
                </a:solidFill>
                <a:latin typeface="Pretendard"/>
                <a:ea typeface="Pretendard"/>
                <a:cs typeface="Pretendard"/>
              </a:rPr>
              <a:t>실제 사용 가치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133" y="3149600"/>
            <a:ext cx="2548467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0000"/>
              </a:lnSpc>
              <a:defRPr sz="1500" b="0" spc="-23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lang="ko-KR" sz="1500" b="0" spc="-23" dirty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도움이 되고,</a:t>
            </a:r>
            <a:br/>
            <a:r>
              <a:rPr lang="ko-KR" sz="1500" b="0" spc="-23" dirty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계속 쓰고 싶은가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48133" y="3987800"/>
            <a:ext cx="2548467" cy="127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pc="-27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348133" y="4216400"/>
            <a:ext cx="2548467" cy="787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1000"/>
              </a:spcAft>
              <a:defRPr sz="1600" b="0" spc="-24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lang="ko-KR" sz="1600" b="0" spc="-24" dirty="0">
                <a:solidFill>
                  <a:srgbClr val="F5F5F5"/>
                </a:solidFill>
                <a:latin typeface="Pretendard"/>
                <a:ea typeface="Pretendard"/>
                <a:cs typeface="Pretendard"/>
              </a:rPr>
              <a:t>기한 내 완료율 변화</a:t>
            </a:r>
          </a:p>
          <a:p>
            <a:pPr algn="l">
              <a:spcAft>
                <a:spcPts val="1000"/>
              </a:spcAft>
              <a:defRPr sz="1600" b="0" spc="-24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lang="ko-KR" sz="1600" b="0" spc="-24" dirty="0">
                <a:solidFill>
                  <a:srgbClr val="F5F5F5"/>
                </a:solidFill>
                <a:latin typeface="Pretendard"/>
                <a:ea typeface="Pretendard"/>
                <a:cs typeface="Pretendard"/>
              </a:rPr>
              <a:t>유용성 · 지속 사용 의향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5486400"/>
            <a:ext cx="1033272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pc="-27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14400" y="5669280"/>
            <a:ext cx="105156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680"/>
              </a:spcAft>
              <a:defRPr sz="1300" b="0" spc="-13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13" dirty="0">
                <a:latin typeface="Pretendard"/>
                <a:ea typeface="Pretendard"/>
                <a:cs typeface="Pretendard"/>
              </a:rPr>
              <a:t>목표치는 초기 2주 실사용 결과를 보고 확정 (11/21)  ·  도입 전 수작업 관리 시간을 측정해 전후 비교</a:t>
            </a:r>
          </a:p>
          <a:p>
            <a:pPr algn="l">
              <a:spcAft>
                <a:spcPts val="680"/>
              </a:spcAft>
              <a:defRPr sz="1300" b="0" spc="-13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13" dirty="0">
                <a:latin typeface="Pretendard"/>
                <a:ea typeface="Pretendard"/>
                <a:cs typeface="Pretendard"/>
              </a:rPr>
              <a:t>교란 변수(학기말 압박) 인정 → “AI만 잡아낸 액션 수” 등 시기 무관 지표 병행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06100" y="6350000"/>
            <a:ext cx="5461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1000" b="0" spc="-1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10" dirty="0">
                <a:latin typeface="Pretendard"/>
                <a:ea typeface="Pretendard"/>
                <a:cs typeface="Pretendard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817167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640080"/>
            <a:ext cx="1270000" cy="35560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27000" tIns="25400" rIns="127000" bIns="25400" rtlCol="0" anchor="ctr"/>
          <a:lstStyle/>
          <a:p>
            <a:pPr algn="ctr">
              <a:defRPr sz="1100" b="1" spc="-11">
                <a:solidFill>
                  <a:srgbClr val="0F0F0F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11" dirty="0">
                <a:latin typeface="Pretendard"/>
                <a:ea typeface="Pretendard"/>
                <a:cs typeface="Pretendard"/>
              </a:rPr>
              <a:t>수행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51560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4000" b="1" spc="-100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100" dirty="0">
                <a:latin typeface="Pretendard"/>
                <a:ea typeface="Pretendard"/>
                <a:cs typeface="Pretendard"/>
              </a:rPr>
              <a:t>작게 전체 루프를 돌리고, 쓰면서 완성한다</a:t>
            </a:r>
          </a:p>
        </p:txBody>
      </p:sp>
      <p:sp>
        <p:nvSpPr>
          <p:cNvPr id="4" name="Oval 3"/>
          <p:cNvSpPr/>
          <p:nvPr/>
        </p:nvSpPr>
        <p:spPr>
          <a:xfrm>
            <a:off x="1097280" y="2336800"/>
            <a:ext cx="127000" cy="12700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pc="-27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48080" y="2489200"/>
            <a:ext cx="25400" cy="4572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pc="-27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45920" y="2286000"/>
            <a:ext cx="20116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0" spc="-2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lang="ko-KR" sz="1400" spc="-21" dirty="0">
                <a:latin typeface="Pretendard"/>
                <a:ea typeface="Pretendard"/>
                <a:cs typeface="Pretendard"/>
              </a:rPr>
              <a:t>10/24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286000"/>
            <a:ext cx="30175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600" b="1" spc="-24">
                <a:solidFill>
                  <a:srgbClr val="4ADE80"/>
                </a:solidFill>
                <a:latin typeface="Pretendard"/>
                <a:ea typeface="Pretendard"/>
                <a:cs typeface="Pretendard"/>
              </a:defRPr>
            </a:pPr>
            <a:r>
              <a:rPr lang="ko-KR" sz="1600" spc="-24" dirty="0">
                <a:latin typeface="Pretendard"/>
                <a:ea typeface="Pretendard"/>
                <a:cs typeface="Pretendard"/>
              </a:rPr>
              <a:t>중간 발표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2400" y="2286000"/>
            <a:ext cx="47498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50" b="0" spc="-2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lang="ko-KR" sz="1350" spc="-20" dirty="0">
                <a:latin typeface="Pretendard"/>
                <a:ea typeface="Pretendard"/>
                <a:cs typeface="Pretendard"/>
              </a:rPr>
              <a:t>문제 정의 + 설계 발표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2903728"/>
            <a:ext cx="127000" cy="12700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pc="-27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48080" y="3056128"/>
            <a:ext cx="25400" cy="4572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pc="-27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45920" y="2852928"/>
            <a:ext cx="20116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0" spc="-2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lang="ko-KR" sz="1400" spc="-21" dirty="0">
                <a:latin typeface="Pretendard"/>
                <a:ea typeface="Pretendard"/>
                <a:cs typeface="Pretendard"/>
              </a:rPr>
              <a:t>10/25 ~ 11/7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852928"/>
            <a:ext cx="30175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600" b="1" spc="-24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lang="ko-KR" sz="1600" spc="-24" dirty="0">
                <a:latin typeface="Pretendard"/>
                <a:ea typeface="Pretendard"/>
                <a:cs typeface="Pretendard"/>
              </a:rPr>
              <a:t>최소 기능 구현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2400" y="2852928"/>
            <a:ext cx="47498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50" b="0" spc="-2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lang="ko-KR" sz="1350" spc="-20" dirty="0">
                <a:latin typeface="Pretendard"/>
                <a:ea typeface="Pretendard"/>
                <a:cs typeface="Pretendard"/>
              </a:rPr>
              <a:t>녹음앱 1개 연결 · 회의 묶음 선택 · 액션 확인 · 기본 팔로업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3470656"/>
            <a:ext cx="127000" cy="12700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pc="-27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148080" y="3623056"/>
            <a:ext cx="25400" cy="4572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pc="-27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45920" y="3419856"/>
            <a:ext cx="20116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0" spc="-2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lang="ko-KR" sz="1400" spc="-21" dirty="0">
                <a:latin typeface="Pretendard"/>
                <a:ea typeface="Pretendard"/>
                <a:cs typeface="Pretendard"/>
              </a:rPr>
              <a:t>11/8 ~ 11/21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419856"/>
            <a:ext cx="30175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600" b="1" spc="-24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lang="en-US" sz="1600" spc="-24" dirty="0">
                <a:latin typeface="Pretendard"/>
                <a:ea typeface="Pretendard"/>
                <a:cs typeface="Pretendard"/>
              </a:rPr>
              <a:t>MVP</a:t>
            </a:r>
            <a:r>
              <a:rPr lang="ko-KR" altLang="en-US" sz="1600" spc="-24" dirty="0">
                <a:latin typeface="Pretendard"/>
                <a:ea typeface="Pretendard"/>
                <a:cs typeface="Pretendard"/>
              </a:rPr>
              <a:t> 사용 시작</a:t>
            </a:r>
            <a:endParaRPr sz="1600" spc="-24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02400" y="3419856"/>
            <a:ext cx="47498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50" b="0" spc="-2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lang="ko-KR" sz="1350" spc="-20" dirty="0">
                <a:latin typeface="Pretendard"/>
                <a:ea typeface="Pretendard"/>
                <a:cs typeface="Pretendard"/>
              </a:rPr>
              <a:t>팀 회의 적용 · 회의 연결 추천 · R&amp;R·일정 보완 · 목표치 확정</a:t>
            </a:r>
          </a:p>
        </p:txBody>
      </p:sp>
      <p:sp>
        <p:nvSpPr>
          <p:cNvPr id="19" name="Oval 18"/>
          <p:cNvSpPr/>
          <p:nvPr/>
        </p:nvSpPr>
        <p:spPr>
          <a:xfrm>
            <a:off x="1097280" y="4037584"/>
            <a:ext cx="127000" cy="12700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pc="-27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48080" y="4189984"/>
            <a:ext cx="25400" cy="4572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pc="-27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45920" y="3986784"/>
            <a:ext cx="20116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0" spc="-2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lang="ko-KR" sz="1400" spc="-21" dirty="0">
                <a:latin typeface="Pretendard"/>
                <a:ea typeface="Pretendard"/>
                <a:cs typeface="Pretendard"/>
              </a:rPr>
              <a:t>11/22 ~ 12/5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3986784"/>
            <a:ext cx="30175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600" b="1" spc="-24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lang="ko-KR" altLang="en-US" sz="1600" spc="-24" dirty="0">
                <a:latin typeface="Pretendard"/>
                <a:ea typeface="Pretendard"/>
                <a:cs typeface="Pretendard"/>
              </a:rPr>
              <a:t>서비스 개선</a:t>
            </a:r>
            <a:r>
              <a:rPr lang="en-US" altLang="ko-KR" sz="1600" spc="-24" dirty="0">
                <a:latin typeface="Pretendard"/>
                <a:ea typeface="Pretendard"/>
                <a:cs typeface="Pretendard"/>
              </a:rPr>
              <a:t>/</a:t>
            </a:r>
            <a:r>
              <a:rPr lang="ko-KR" altLang="en-US" sz="1600" spc="-24" dirty="0">
                <a:latin typeface="Pretendard"/>
                <a:ea typeface="Pretendard"/>
                <a:cs typeface="Pretendard"/>
              </a:rPr>
              <a:t>보완</a:t>
            </a:r>
            <a:endParaRPr sz="1600" spc="-24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02400" y="3986784"/>
            <a:ext cx="47498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50" b="0" spc="-2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lang="ko-KR" sz="1350" spc="-20" dirty="0">
                <a:latin typeface="Pretendard"/>
                <a:ea typeface="Pretendard"/>
                <a:cs typeface="Pretendard"/>
              </a:rPr>
              <a:t>답변 해석 · 막힘 파악 · 이전 업무 업데이트 · 안건 연결</a:t>
            </a:r>
          </a:p>
        </p:txBody>
      </p:sp>
      <p:sp>
        <p:nvSpPr>
          <p:cNvPr id="24" name="Oval 23"/>
          <p:cNvSpPr/>
          <p:nvPr/>
        </p:nvSpPr>
        <p:spPr>
          <a:xfrm>
            <a:off x="1097280" y="4604512"/>
            <a:ext cx="127000" cy="12700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pc="-27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148080" y="4756912"/>
            <a:ext cx="25400" cy="4572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pc="-27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45920" y="4553712"/>
            <a:ext cx="20116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0" spc="-2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lang="ko-KR" sz="1400" spc="-21" dirty="0">
                <a:latin typeface="Pretendard"/>
                <a:ea typeface="Pretendard"/>
                <a:cs typeface="Pretendard"/>
              </a:rPr>
              <a:t>12/6 ~ 12/18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553712"/>
            <a:ext cx="30175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600" b="1" spc="-24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lang="ko-KR" sz="1600" spc="-24" dirty="0">
                <a:latin typeface="Pretendard"/>
                <a:ea typeface="Pretendard"/>
                <a:cs typeface="Pretendard"/>
              </a:rPr>
              <a:t>최종 검증 · 분석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2400" y="4553712"/>
            <a:ext cx="47498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50" b="0" spc="-2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lang="ko-KR" sz="1350" spc="-20" dirty="0">
                <a:latin typeface="Pretendard"/>
                <a:ea typeface="Pretendard"/>
                <a:cs typeface="Pretendard"/>
              </a:rPr>
              <a:t>관리 시간 · 추적 오류 · F/U 정상 처리율 · 팀원 평가 정리</a:t>
            </a:r>
          </a:p>
        </p:txBody>
      </p:sp>
      <p:sp>
        <p:nvSpPr>
          <p:cNvPr id="29" name="Oval 28"/>
          <p:cNvSpPr/>
          <p:nvPr/>
        </p:nvSpPr>
        <p:spPr>
          <a:xfrm>
            <a:off x="1097280" y="5171440"/>
            <a:ext cx="127000" cy="12700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pc="-27"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645920" y="5120640"/>
            <a:ext cx="20116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400" b="0" spc="-21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lang="ko-KR" sz="1400" spc="-21" dirty="0">
                <a:latin typeface="Pretendard"/>
                <a:ea typeface="Pretendard"/>
                <a:cs typeface="Pretendard"/>
              </a:rPr>
              <a:t>12/19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5120640"/>
            <a:ext cx="301752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600" b="1" spc="-24">
                <a:solidFill>
                  <a:srgbClr val="4ADE80"/>
                </a:solidFill>
                <a:latin typeface="Pretendard"/>
                <a:ea typeface="Pretendard"/>
                <a:cs typeface="Pretendard"/>
              </a:defRPr>
            </a:pPr>
            <a:r>
              <a:rPr sz="1600" spc="-24" dirty="0" err="1">
                <a:latin typeface="Pretendard"/>
                <a:ea typeface="Pretendard"/>
                <a:cs typeface="Pretendard"/>
              </a:rPr>
              <a:t>기말</a:t>
            </a:r>
            <a:r>
              <a:rPr sz="1600" spc="-24" dirty="0">
                <a:latin typeface="Pretendard"/>
                <a:ea typeface="Pretendard"/>
                <a:cs typeface="Pretendard"/>
              </a:rPr>
              <a:t> </a:t>
            </a:r>
            <a:r>
              <a:rPr sz="1600" spc="-24" dirty="0" err="1">
                <a:latin typeface="Pretendard"/>
                <a:ea typeface="Pretendard"/>
                <a:cs typeface="Pretendard"/>
              </a:rPr>
              <a:t>발표</a:t>
            </a:r>
            <a:endParaRPr sz="1600" spc="-24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02400" y="5120640"/>
            <a:ext cx="47498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350" b="0" spc="-20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lang="ko-KR" sz="1350" spc="-20" dirty="0">
                <a:latin typeface="Pretendard"/>
                <a:ea typeface="Pretendard"/>
                <a:cs typeface="Pretendard"/>
              </a:rPr>
              <a:t>라이브 데모 + 실제 사용 결과 + 개선 사례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943600"/>
            <a:ext cx="105156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700" b="1" spc="-26">
                <a:solidFill>
                  <a:srgbClr val="4ADE80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26" dirty="0">
                <a:latin typeface="Pretendard"/>
                <a:ea typeface="Pretendard"/>
                <a:cs typeface="Pretendard"/>
              </a:rPr>
              <a:t>11월 초부터 최소 기능을 팀 회의에 적용 → 사용·개선을 병행하며 기말까지 효과 검증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06100" y="6350000"/>
            <a:ext cx="54864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1000" b="0" spc="-1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10" dirty="0">
                <a:latin typeface="Pretendard"/>
                <a:ea typeface="Pretendard"/>
                <a:cs typeface="Pretendard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860161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30705"/>
            <a:ext cx="10058400" cy="1645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02000"/>
              </a:lnSpc>
              <a:defRPr sz="4600" b="1" spc="-115">
                <a:solidFill>
                  <a:srgbClr val="999999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115" dirty="0">
                <a:latin typeface="Pretendard"/>
                <a:ea typeface="Pretendard"/>
                <a:cs typeface="Pretendard"/>
              </a:rPr>
              <a:t>기존 도구는</a:t>
            </a:r>
            <a:br/>
            <a:r>
              <a:rPr lang="ko-KR" spc="-115" dirty="0">
                <a:latin typeface="Pretendard"/>
                <a:ea typeface="Pretendard"/>
                <a:cs typeface="Pretendard"/>
              </a:rPr>
              <a:t>회의를 기록합니다.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9505"/>
            <a:ext cx="1005840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4600" b="1" spc="-115">
                <a:solidFill>
                  <a:srgbClr val="F5F5F5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115" dirty="0">
                <a:latin typeface="Pretendard"/>
                <a:ea typeface="Pretendard"/>
                <a:cs typeface="Pretendard"/>
              </a:rPr>
              <a:t>우리는 회의를 완결합니다.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939665"/>
            <a:ext cx="2286000" cy="1270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pc="-27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5213985"/>
            <a:ext cx="5486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800" b="1" spc="-27">
                <a:solidFill>
                  <a:srgbClr val="4ADE80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27" dirty="0">
                <a:latin typeface="Pretendard"/>
                <a:ea typeface="Pretendard"/>
                <a:cs typeface="Pretendard"/>
              </a:rPr>
              <a:t>FollowIt  ·  팔로잇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2625"/>
            <a:ext cx="4572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defRPr sz="1600" b="0" spc="-24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24" dirty="0">
                <a:latin typeface="Pretendard"/>
                <a:ea typeface="Pretendard"/>
                <a:cs typeface="Pretendard"/>
              </a:rPr>
              <a:t>감사합니다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06100" y="6350000"/>
            <a:ext cx="5461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>
              <a:defRPr sz="1000" b="0" spc="-1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lang="ko-KR" spc="-10" dirty="0">
                <a:latin typeface="Pretendard"/>
                <a:ea typeface="Pretendard"/>
                <a:cs typeface="Pretendard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37104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92417622809]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retendard"/>
        <a:ea typeface="Pretendard"/>
        <a:cs typeface="Pretendard"/>
        <a:font script="Jpan" typeface="ＭＳ Ｐゴシック"/>
        <a:font script="Hang" typeface="Pretendard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retendard"/>
        <a:ea typeface="Pretendard"/>
        <a:cs typeface="Pretendard"/>
        <a:font script="Jpan" typeface="ＭＳ Ｐゴシック"/>
        <a:font script="Hang" typeface="Pretendard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0FDAD40-2D34-A843-B5FA-559CC3C34E4C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53e6869a-fae0-48f4-8f20-fdb1915400e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642</Words>
  <Application>Microsoft Macintosh PowerPoint</Application>
  <PresentationFormat>와이드스크린</PresentationFormat>
  <Paragraphs>114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Pretendard</vt:lpstr>
      <vt:lpstr>Arial</vt:lpstr>
      <vt:lpstr>Office Theme [1792417622809]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박승찬</cp:lastModifiedBy>
  <cp:revision>12</cp:revision>
  <dcterms:created xsi:type="dcterms:W3CDTF">2013-01-27T09:14:16Z</dcterms:created>
  <dcterms:modified xsi:type="dcterms:W3CDTF">2026-10-19T13:54:36Z</dcterms:modified>
  <cp:category/>
</cp:coreProperties>
</file>
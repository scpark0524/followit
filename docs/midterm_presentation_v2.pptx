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4630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66666"/>
                </a:solidFill>
                <a:latin typeface="Arial"/>
              </a:defRPr>
            </a:pPr>
            <a:r>
              <a:t>KAIST IMMS  ·  2026 Fall  ·  AI Business Strategy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10312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400" b="1">
                <a:solidFill>
                  <a:srgbClr val="F5F5F5"/>
                </a:solidFill>
                <a:latin typeface="Arial"/>
              </a:defRPr>
            </a:pPr>
            <a:r>
              <a:t>회의 이후를</a:t>
            </a:r>
            <a:br/>
            <a:r>
              <a:t>책임지는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11480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4ADE80"/>
                </a:solidFill>
                <a:latin typeface="Arial"/>
              </a:defRPr>
            </a:pPr>
            <a:r>
              <a:t>FollowIt  ·  팔로잇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4846320"/>
            <a:ext cx="2743200" cy="1270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51206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99999"/>
                </a:solidFill>
                <a:latin typeface="Arial"/>
              </a:defRPr>
            </a:pPr>
            <a:r>
              <a:t>회의의 맥락을 기억하고, 다음 액션을 끝까지 챙기는 AI 비서 (follow + it)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94360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66666"/>
                </a:solidFill>
                <a:latin typeface="Arial"/>
              </a:defRPr>
            </a:pPr>
            <a:r>
              <a:t>TEAM_2 : 김신애 · 박승찬 · 신지엽 · 윤경혜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Arial"/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914400" y="640080"/>
            <a:ext cx="736600" cy="355600"/>
          </a:xfrm>
          <a:prstGeom prst="roundRect">
            <a:avLst/>
          </a:prstGeom>
          <a:solidFill>
            <a:srgbClr val="FF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7000" rIns="127000" tIns="25400" bIns="25400"/>
          <a:lstStyle/>
          <a:p>
            <a:pPr algn="ctr">
              <a:defRPr sz="1100" b="1">
                <a:solidFill>
                  <a:srgbClr val="0F0F0F"/>
                </a:solidFill>
                <a:latin typeface="Arial"/>
              </a:defRPr>
            </a:pPr>
            <a:r>
              <a:t>문제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1887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5F5F5"/>
                </a:solidFill>
                <a:latin typeface="Arial"/>
              </a:defRPr>
            </a:pPr>
            <a:r>
              <a:t>회의는 끝났는데, 일은 시작되지 않는다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2560320"/>
            <a:ext cx="4114800" cy="2194560"/>
          </a:xfrm>
          <a:prstGeom prst="round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2743200"/>
            <a:ext cx="3200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200" b="1">
                <a:solidFill>
                  <a:srgbClr val="FF6B4A"/>
                </a:solidFill>
                <a:latin typeface="Arial"/>
              </a:defRPr>
            </a:pPr>
            <a:r>
              <a:t>54%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3931920"/>
            <a:ext cx="3291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99999"/>
                </a:solidFill>
                <a:latin typeface="Arial"/>
              </a:defRPr>
            </a:pPr>
            <a:r>
              <a:t>회의 후 다음 할 일·담당자를 모른 채</a:t>
            </a:r>
            <a:br/>
            <a:r>
              <a:t>자리를 뜨는 직장인 비율¹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0" y="2560320"/>
            <a:ext cx="5577840" cy="594360"/>
          </a:xfrm>
          <a:prstGeom prst="round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35040" y="2606040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6B4A"/>
                </a:solidFill>
                <a:latin typeface="Arial"/>
              </a:defRPr>
            </a:pPr>
            <a:r>
              <a:t>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26060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5F5F5"/>
                </a:solidFill>
                <a:latin typeface="Arial"/>
              </a:defRPr>
            </a:pPr>
            <a:r>
              <a:t>주인 불명확 — "그거 누가 하기로 했죠?"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0" y="3337560"/>
            <a:ext cx="5577840" cy="594360"/>
          </a:xfrm>
          <a:prstGeom prst="round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35040" y="3383280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6B4A"/>
                </a:solidFill>
                <a:latin typeface="Arial"/>
              </a:defRPr>
            </a:pPr>
            <a:r>
              <a:t>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33832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5F5F5"/>
                </a:solidFill>
                <a:latin typeface="Arial"/>
              </a:defRPr>
            </a:pPr>
            <a:r>
              <a:t>기한 모호 — "다음 주쯤", "가능한 빨리"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0" y="4114800"/>
            <a:ext cx="5577840" cy="594360"/>
          </a:xfrm>
          <a:prstGeom prst="round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35040" y="4160520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6B4A"/>
                </a:solidFill>
                <a:latin typeface="Arial"/>
              </a:defRPr>
            </a:pPr>
            <a:r>
              <a:t>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41605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5F5F5"/>
                </a:solidFill>
                <a:latin typeface="Arial"/>
              </a:defRPr>
            </a:pPr>
            <a:r>
              <a:t>팔로업 부재 — 다음 회의에서 확인 없이 넘어감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5303520"/>
            <a:ext cx="10332720" cy="1270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55321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99999"/>
                </a:solidFill>
                <a:latin typeface="Arial"/>
              </a:defRPr>
            </a:pPr>
            <a:r>
              <a:t>PM이 회의록 정리 → 태스크 등록 → 진행 확인을 수작업으로 하고 있습니다.</a:t>
            </a:r>
            <a:br/>
            <a:r>
              <a:t>이 일이 누락되는 순간, 결정사항은 사라집니다.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626364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Arial"/>
              </a:defRPr>
            </a:pPr>
            <a:r>
              <a:t>1. Source: Atlassian, 지식근로자 5,000명 대상 설문 (2024)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Arial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914400" y="640080"/>
            <a:ext cx="736600" cy="355600"/>
          </a:xfrm>
          <a:prstGeom prst="roundRect">
            <a:avLst/>
          </a:prstGeom>
          <a:solidFill>
            <a:srgbClr val="FF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7000" rIns="127000" tIns="25400" bIns="25400"/>
          <a:lstStyle/>
          <a:p>
            <a:pPr algn="ctr">
              <a:defRPr sz="1100" b="1">
                <a:solidFill>
                  <a:srgbClr val="0F0F0F"/>
                </a:solidFill>
                <a:latin typeface="Arial"/>
              </a:defRPr>
            </a:pPr>
            <a:r>
              <a:t>문제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1887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5F5F5"/>
                </a:solidFill>
                <a:latin typeface="Arial"/>
              </a:defRPr>
            </a:pPr>
            <a:r>
              <a:t>기존 회의 AI는 '등록'에서 멈춘다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2286000"/>
            <a:ext cx="5029200" cy="3108960"/>
          </a:xfrm>
          <a:prstGeom prst="round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242316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6B4A"/>
                </a:solidFill>
                <a:latin typeface="Arial"/>
              </a:defRPr>
            </a:pPr>
            <a:r>
              <a:t>Circleback · Otter · 클로바노트 등</a:t>
            </a:r>
          </a:p>
        </p:txBody>
      </p:sp>
      <p:sp>
        <p:nvSpPr>
          <p:cNvPr id="6" name="Rectangle 5"/>
          <p:cNvSpPr/>
          <p:nvPr/>
        </p:nvSpPr>
        <p:spPr>
          <a:xfrm>
            <a:off x="1280160" y="2926080"/>
            <a:ext cx="4297680" cy="12700"/>
          </a:xfrm>
          <a:prstGeom prst="rect">
            <a:avLst/>
          </a:prstGeom>
          <a:solidFill>
            <a:srgbClr val="6666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3127248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5F5F5"/>
                </a:solidFill>
                <a:latin typeface="Arial"/>
              </a:defRPr>
            </a:pPr>
            <a:r>
              <a:t>녹음 → 전사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0" y="3127248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ADE80"/>
                </a:solidFill>
                <a:latin typeface="Arial"/>
              </a:defRPr>
            </a:pPr>
            <a:r>
              <a:t>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3511296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5F5F5"/>
                </a:solidFill>
                <a:latin typeface="Arial"/>
              </a:defRPr>
            </a:pPr>
            <a:r>
              <a:t>AI 요약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3511296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ADE80"/>
                </a:solidFill>
                <a:latin typeface="Arial"/>
              </a:defRPr>
            </a:pPr>
            <a:r>
              <a:t>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3895344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5F5F5"/>
                </a:solidFill>
                <a:latin typeface="Arial"/>
              </a:defRPr>
            </a:pPr>
            <a:r>
              <a:t>액션아이템 추출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3895344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ADE80"/>
                </a:solidFill>
                <a:latin typeface="Arial"/>
              </a:defRPr>
            </a:pPr>
            <a:r>
              <a:t>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279392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5F5F5"/>
                </a:solidFill>
                <a:latin typeface="Arial"/>
              </a:defRPr>
            </a:pPr>
            <a:r>
              <a:t>태스크 등록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4279392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ADE80"/>
                </a:solidFill>
                <a:latin typeface="Arial"/>
              </a:defRPr>
            </a:pPr>
            <a:r>
              <a:t>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466344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666666"/>
                </a:solidFill>
                <a:latin typeface="Arial"/>
              </a:defRPr>
            </a:pPr>
            <a:r>
              <a:t>─── 여기서 끝 ───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2286000"/>
            <a:ext cx="5029200" cy="3108960"/>
          </a:xfrm>
          <a:prstGeom prst="roundRect">
            <a:avLst/>
          </a:prstGeom>
          <a:solidFill>
            <a:srgbClr val="2222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242316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ADE80"/>
                </a:solidFill>
                <a:latin typeface="Arial"/>
              </a:defRPr>
            </a:pPr>
            <a:r>
              <a:t>FollowIt (팔로잇)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0" y="2926080"/>
            <a:ext cx="4297680" cy="12700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75120" y="3090672"/>
            <a:ext cx="3566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50" b="0">
                <a:solidFill>
                  <a:srgbClr val="F5F5F5"/>
                </a:solidFill>
                <a:latin typeface="Arial"/>
              </a:defRPr>
            </a:pPr>
            <a:r>
              <a:t>기존 녹음앱 연결 (MCP/API)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3090672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99999"/>
                </a:solidFill>
                <a:latin typeface="Arial"/>
              </a:defRPr>
            </a:pPr>
            <a:r>
              <a:t>연동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0" y="3465576"/>
            <a:ext cx="3566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50" b="0">
                <a:solidFill>
                  <a:srgbClr val="F5F5F5"/>
                </a:solidFill>
                <a:latin typeface="Arial"/>
              </a:defRPr>
            </a:pPr>
            <a:r>
              <a:t>회의 연결 · 맥락 관리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332720" y="3465576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4ADE80"/>
                </a:solidFill>
                <a:latin typeface="Arial"/>
              </a:defRPr>
            </a:pPr>
            <a:r>
              <a:t>NEW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0" y="3840480"/>
            <a:ext cx="3566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50" b="0">
                <a:solidFill>
                  <a:srgbClr val="F5F5F5"/>
                </a:solidFill>
                <a:latin typeface="Arial"/>
              </a:defRPr>
            </a:pPr>
            <a:r>
              <a:t>액션 추출 + R&amp;R 추천 + HITL 확인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332720" y="38404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4ADE80"/>
                </a:solidFill>
                <a:latin typeface="Arial"/>
              </a:defRPr>
            </a:pPr>
            <a:r>
              <a:t>NEW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5120" y="4215384"/>
            <a:ext cx="3566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50" b="0">
                <a:solidFill>
                  <a:srgbClr val="F5F5F5"/>
                </a:solidFill>
                <a:latin typeface="Arial"/>
              </a:defRPr>
            </a:pPr>
            <a:r>
              <a:t>선행관계 기반 타임라인 제안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332720" y="4215384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4ADE80"/>
                </a:solidFill>
                <a:latin typeface="Arial"/>
              </a:defRPr>
            </a:pPr>
            <a:r>
              <a:t>NEW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75120" y="4590288"/>
            <a:ext cx="3566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50" b="0">
                <a:solidFill>
                  <a:srgbClr val="F5F5F5"/>
                </a:solidFill>
                <a:latin typeface="Arial"/>
              </a:defRPr>
            </a:pPr>
            <a:r>
              <a:t>팔로업 추적 + 답변 해석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332720" y="4590288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4ADE80"/>
                </a:solidFill>
                <a:latin typeface="Arial"/>
              </a:defRPr>
            </a:pPr>
            <a:r>
              <a:t>NEW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75120" y="4965192"/>
            <a:ext cx="3566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50" b="0">
                <a:solidFill>
                  <a:srgbClr val="F5F5F5"/>
                </a:solidFill>
                <a:latin typeface="Arial"/>
              </a:defRPr>
            </a:pPr>
            <a:r>
              <a:t>미완료 → 다음 회의 안건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332720" y="4965192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4ADE80"/>
                </a:solidFill>
                <a:latin typeface="Arial"/>
              </a:defRPr>
            </a:pPr>
            <a:r>
              <a:t>NEW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56692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4ADE80"/>
                </a:solidFill>
                <a:latin typeface="Arial"/>
              </a:defRPr>
            </a:pPr>
            <a:r>
              <a:t>“기존 도구는 회의를 기록합니다.  우리는 회의를 완결합니다.”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612648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99999"/>
                </a:solidFill>
                <a:latin typeface="Arial"/>
              </a:defRPr>
            </a:pPr>
            <a:r>
              <a:t>녹음·전사·추출은 기존 앱 위에 올라타고, 회의 연결 · 확인 · 추적 · 완결에 집중합니다.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Arial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914400" y="640080"/>
            <a:ext cx="914400" cy="355600"/>
          </a:xfrm>
          <a:prstGeom prst="roundRect">
            <a:avLst/>
          </a:prstGeom>
          <a:solidFill>
            <a:srgbClr val="4ECD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7000" rIns="127000" tIns="25400" bIns="25400"/>
          <a:lstStyle/>
          <a:p>
            <a:pPr algn="ctr">
              <a:defRPr sz="1100" b="1">
                <a:solidFill>
                  <a:srgbClr val="0F0F0F"/>
                </a:solidFill>
                <a:latin typeface="Arial"/>
              </a:defRPr>
            </a:pPr>
            <a:r>
              <a:t>솔루션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1887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5F5F5"/>
                </a:solidFill>
                <a:latin typeface="Arial"/>
              </a:defRPr>
            </a:pPr>
            <a:r>
              <a:t>회의를 기억하고, 연결하고, 끝까지 챙긴다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286000"/>
            <a:ext cx="1874519" cy="1828800"/>
          </a:xfrm>
          <a:prstGeom prst="round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09320" y="237744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4ADE80"/>
                </a:solidFill>
                <a:latin typeface="Arial"/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9320" y="2834640"/>
            <a:ext cx="15189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5F5F5"/>
                </a:solidFill>
                <a:latin typeface="Arial"/>
              </a:defRPr>
            </a:pPr>
            <a:r>
              <a:t>연동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9320" y="3200400"/>
            <a:ext cx="1518919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>
                <a:solidFill>
                  <a:srgbClr val="999999"/>
                </a:solidFill>
                <a:latin typeface="Arial"/>
              </a:defRPr>
            </a:pPr>
            <a:r>
              <a:t>녹음앱 연결 (MCP)</a:t>
            </a:r>
            <a:br/>
            <a:r>
              <a:t>전사문 가져오기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06039" y="2926080"/>
            <a:ext cx="2560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66666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62071" y="2286000"/>
            <a:ext cx="1874519" cy="1828800"/>
          </a:xfrm>
          <a:prstGeom prst="round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39871" y="237744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4ADE80"/>
                </a:solidFill>
                <a:latin typeface="Arial"/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39871" y="2834640"/>
            <a:ext cx="15189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5F5F5"/>
                </a:solidFill>
                <a:latin typeface="Arial"/>
              </a:defRPr>
            </a:pPr>
            <a:r>
              <a:t>회의 연결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39871" y="3200400"/>
            <a:ext cx="1518919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>
                <a:solidFill>
                  <a:srgbClr val="999999"/>
                </a:solidFill>
                <a:latin typeface="Arial"/>
              </a:defRPr>
            </a:pPr>
            <a:r>
              <a:t>이전 회의와 묶기</a:t>
            </a:r>
            <a:br/>
            <a:r>
              <a:t>기존 액션 이어 추적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36590" y="2926080"/>
            <a:ext cx="2560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66666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992622" y="2286000"/>
            <a:ext cx="1874519" cy="1828800"/>
          </a:xfrm>
          <a:prstGeom prst="round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70422" y="237744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4ADE80"/>
                </a:solidFill>
                <a:latin typeface="Arial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70422" y="2834640"/>
            <a:ext cx="15189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5F5F5"/>
                </a:solidFill>
                <a:latin typeface="Arial"/>
              </a:defRPr>
            </a:pPr>
            <a:r>
              <a:t>액션 · R&amp;R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70422" y="3200400"/>
            <a:ext cx="1518919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>
                <a:solidFill>
                  <a:srgbClr val="999999"/>
                </a:solidFill>
                <a:latin typeface="Arial"/>
              </a:defRPr>
            </a:pPr>
            <a:r>
              <a:t>액션 추출·R&amp;R 추천</a:t>
            </a:r>
            <a:br/>
            <a:r>
              <a:t>모호하면 HITL 확인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67141" y="2926080"/>
            <a:ext cx="2560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66666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23173" y="2286000"/>
            <a:ext cx="1874519" cy="1828800"/>
          </a:xfrm>
          <a:prstGeom prst="round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00973" y="237744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4ADE80"/>
                </a:solidFill>
                <a:latin typeface="Arial"/>
              </a:defRPr>
            </a:pPr>
            <a: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00973" y="2834640"/>
            <a:ext cx="15189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5F5F5"/>
                </a:solidFill>
                <a:latin typeface="Arial"/>
              </a:defRPr>
            </a:pPr>
            <a:r>
              <a:t>타임라인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00973" y="3200400"/>
            <a:ext cx="1518919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>
                <a:solidFill>
                  <a:srgbClr val="999999"/>
                </a:solidFill>
                <a:latin typeface="Arial"/>
              </a:defRPr>
            </a:pPr>
            <a:r>
              <a:t>기한·선행관계 역산</a:t>
            </a:r>
            <a:br/>
            <a:r>
              <a:t>변경사항 반영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97692" y="2926080"/>
            <a:ext cx="2560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66666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253724" y="2286000"/>
            <a:ext cx="1874519" cy="1828800"/>
          </a:xfrm>
          <a:prstGeom prst="round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31524" y="237744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4ADE80"/>
                </a:solidFill>
                <a:latin typeface="Arial"/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31524" y="2834640"/>
            <a:ext cx="15189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5F5F5"/>
                </a:solidFill>
                <a:latin typeface="Arial"/>
              </a:defRPr>
            </a:pPr>
            <a:r>
              <a:t>후속관리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431524" y="3200400"/>
            <a:ext cx="1518919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>
                <a:solidFill>
                  <a:srgbClr val="999999"/>
                </a:solidFill>
                <a:latin typeface="Arial"/>
              </a:defRPr>
            </a:pPr>
            <a:r>
              <a:t>진행 확인·답변 해석</a:t>
            </a:r>
            <a:br/>
            <a:r>
              <a:t>미완료 → 다음 안건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286000" y="4343400"/>
            <a:ext cx="7589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4ADE80"/>
                </a:solidFill>
                <a:latin typeface="Arial"/>
              </a:defRPr>
            </a:pPr>
            <a:r>
              <a:t>↻  다음 회의 녹음 → 이전 회의·액션과 자동 연결  (closed loop)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14400" y="4937760"/>
            <a:ext cx="10332720" cy="1270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4400" y="51663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5F5F5"/>
                </a:solidFill>
                <a:latin typeface="Arial"/>
              </a:defRPr>
            </a:pPr>
            <a:r>
              <a:t>왜 AI여야 하는가 (규칙으로는 불가능한 3가지)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553212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300" b="0">
                <a:solidFill>
                  <a:srgbClr val="999999"/>
                </a:solidFill>
                <a:latin typeface="Arial"/>
              </a:defRPr>
            </a:pPr>
            <a:r>
              <a:t>“그건 제가 한번 볼게요”  →  액션아이템 판단 (한국어 화법 맥락)</a:t>
            </a:r>
          </a:p>
          <a:p>
            <a:pPr algn="l">
              <a:spcAft>
                <a:spcPts val="1000"/>
              </a:spcAft>
              <a:defRPr sz="1300" b="0">
                <a:solidFill>
                  <a:srgbClr val="999999"/>
                </a:solidFill>
                <a:latin typeface="Arial"/>
              </a:defRPr>
            </a:pPr>
            <a:r>
              <a:t>“중간발표 전까지는 돼야죠”  →  암묵적 기한을 실제 날짜로 변환</a:t>
            </a:r>
          </a:p>
          <a:p>
            <a:pPr algn="l">
              <a:spcAft>
                <a:spcPts val="1000"/>
              </a:spcAft>
              <a:defRPr sz="1300" b="0">
                <a:solidFill>
                  <a:srgbClr val="999999"/>
                </a:solidFill>
                <a:latin typeface="Arial"/>
              </a:defRPr>
            </a:pPr>
            <a:r>
              <a:t>“자료가 아직 안 와서요”  →  막힘(blocker) 상태 자동 분류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Arial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914400" y="640080"/>
            <a:ext cx="1270000" cy="355600"/>
          </a:xfrm>
          <a:prstGeom prst="roundRect">
            <a:avLst/>
          </a:prstGeom>
          <a:solidFill>
            <a:srgbClr val="4ECD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7000" rIns="127000" tIns="25400" bIns="25400"/>
          <a:lstStyle/>
          <a:p>
            <a:pPr algn="ctr">
              <a:defRPr sz="1100" b="1">
                <a:solidFill>
                  <a:srgbClr val="0F0F0F"/>
                </a:solidFill>
                <a:latin typeface="Arial"/>
              </a:defRPr>
            </a:pPr>
            <a:r>
              <a:t>성공 기준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1887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5F5F5"/>
                </a:solidFill>
                <a:latin typeface="Arial"/>
              </a:defRPr>
            </a:pPr>
            <a:r>
              <a:t>회의 이후, 사람이 챙기는 부담이 줄었는가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2194560"/>
            <a:ext cx="5074920" cy="822960"/>
          </a:xfrm>
          <a:prstGeom prst="roundRect">
            <a:avLst/>
          </a:prstGeom>
          <a:solidFill>
            <a:srgbClr val="2222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2304288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4ADE80"/>
                </a:solidFill>
                <a:latin typeface="Arial"/>
              </a:defRPr>
            </a:pPr>
            <a:r>
              <a:t>① 구현 성공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1760" y="2304288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>
                <a:solidFill>
                  <a:srgbClr val="999999"/>
                </a:solidFill>
                <a:latin typeface="Arial"/>
              </a:defRPr>
            </a:pPr>
            <a:r>
              <a:t>회의 가져오기 → 이전 회의 연결 → 액션 확인</a:t>
            </a:r>
            <a:br/>
            <a:r>
              <a:t>→ 후속관리가 실제로 작동하는가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2194560"/>
            <a:ext cx="5074920" cy="822960"/>
          </a:xfrm>
          <a:prstGeom prst="roundRect">
            <a:avLst/>
          </a:prstGeom>
          <a:solidFill>
            <a:srgbClr val="2222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520" y="2304288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4ADE80"/>
                </a:solidFill>
                <a:latin typeface="Arial"/>
              </a:defRPr>
            </a:pPr>
            <a:r>
              <a:t>② 사용 성공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09560" y="2304288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>
                <a:solidFill>
                  <a:srgbClr val="999999"/>
                </a:solidFill>
                <a:latin typeface="Arial"/>
              </a:defRPr>
            </a:pPr>
            <a:r>
              <a:t>쓰면서 오류·누락이 줄고, 사람이 직접</a:t>
            </a:r>
            <a:br/>
            <a:r>
              <a:t>챙기는 시간과 부담이 줄었는가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3291840"/>
            <a:ext cx="3291840" cy="1920240"/>
          </a:xfrm>
          <a:prstGeom prst="round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68400" y="34290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1">
                <a:solidFill>
                  <a:srgbClr val="4ADE80"/>
                </a:solidFill>
                <a:latin typeface="Arial"/>
              </a:defRPr>
            </a:pPr>
            <a:r>
              <a:t>추적 정확성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68400" y="3794760"/>
            <a:ext cx="2834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>
                <a:solidFill>
                  <a:srgbClr val="999999"/>
                </a:solidFill>
                <a:latin typeface="Arial"/>
              </a:defRPr>
            </a:pPr>
            <a:r>
              <a:t>연결된 회의의 액션을</a:t>
            </a:r>
            <a:br/>
            <a:r>
              <a:t>빠짐없이 잇는가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168400" y="4343400"/>
            <a:ext cx="2560320" cy="12700"/>
          </a:xfrm>
          <a:prstGeom prst="rect">
            <a:avLst/>
          </a:prstGeom>
          <a:solidFill>
            <a:srgbClr val="6666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68400" y="4480560"/>
            <a:ext cx="2834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39"/>
              </a:spcAft>
              <a:defRPr sz="1300" b="0">
                <a:solidFill>
                  <a:srgbClr val="F5F5F5"/>
                </a:solidFill>
                <a:latin typeface="Arial"/>
              </a:defRPr>
            </a:pPr>
            <a:r>
              <a:t>액션 누락 · 중복 건수</a:t>
            </a:r>
          </a:p>
          <a:p>
            <a:pPr algn="l">
              <a:spcAft>
                <a:spcPts val="839"/>
              </a:spcAft>
              <a:defRPr sz="1300" b="0">
                <a:solidFill>
                  <a:srgbClr val="F5F5F5"/>
                </a:solidFill>
                <a:latin typeface="Arial"/>
              </a:defRPr>
            </a:pPr>
            <a:r>
              <a:t>담당자 · 기한 수정 건수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80560" y="3291840"/>
            <a:ext cx="3291840" cy="1920240"/>
          </a:xfrm>
          <a:prstGeom prst="round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34560" y="34290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1">
                <a:solidFill>
                  <a:srgbClr val="4ADE80"/>
                </a:solidFill>
                <a:latin typeface="Arial"/>
              </a:defRPr>
            </a:pPr>
            <a:r>
              <a:t>후속관리 신뢰성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34560" y="3794760"/>
            <a:ext cx="2834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>
                <a:solidFill>
                  <a:srgbClr val="999999"/>
                </a:solidFill>
                <a:latin typeface="Arial"/>
              </a:defRPr>
            </a:pPr>
            <a:r>
              <a:t>제때 확인하고,</a:t>
            </a:r>
            <a:br/>
            <a:r>
              <a:t>제대로 반영하는가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734560" y="4343400"/>
            <a:ext cx="2560320" cy="12700"/>
          </a:xfrm>
          <a:prstGeom prst="rect">
            <a:avLst/>
          </a:prstGeom>
          <a:solidFill>
            <a:srgbClr val="6666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34560" y="4480560"/>
            <a:ext cx="2834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39"/>
              </a:spcAft>
              <a:defRPr sz="1300" b="0">
                <a:solidFill>
                  <a:srgbClr val="F5F5F5"/>
                </a:solidFill>
                <a:latin typeface="Arial"/>
              </a:defRPr>
            </a:pPr>
            <a:r>
              <a:t>예정된 F/U 정상 처리율</a:t>
            </a:r>
          </a:p>
          <a:p>
            <a:pPr algn="l">
              <a:spcAft>
                <a:spcPts val="839"/>
              </a:spcAft>
              <a:defRPr sz="1300" b="0">
                <a:solidFill>
                  <a:srgbClr val="F5F5F5"/>
                </a:solidFill>
                <a:latin typeface="Arial"/>
              </a:defRPr>
            </a:pPr>
            <a:r>
              <a:t>누락 · 불필요 알림 건수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46720" y="3291840"/>
            <a:ext cx="3291840" cy="1920240"/>
          </a:xfrm>
          <a:prstGeom prst="round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00720" y="34290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1">
                <a:solidFill>
                  <a:srgbClr val="4ADE80"/>
                </a:solidFill>
                <a:latin typeface="Arial"/>
              </a:defRPr>
            </a:pPr>
            <a:r>
              <a:t>실제 사용 가치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00720" y="3794760"/>
            <a:ext cx="2834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>
                <a:solidFill>
                  <a:srgbClr val="999999"/>
                </a:solidFill>
                <a:latin typeface="Arial"/>
              </a:defRPr>
            </a:pPr>
            <a:r>
              <a:t>도움이 되고,</a:t>
            </a:r>
            <a:br/>
            <a:r>
              <a:t>계속 쓰고 싶은가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300720" y="4343400"/>
            <a:ext cx="2560320" cy="12700"/>
          </a:xfrm>
          <a:prstGeom prst="rect">
            <a:avLst/>
          </a:prstGeom>
          <a:solidFill>
            <a:srgbClr val="6666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00720" y="4480560"/>
            <a:ext cx="2834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39"/>
              </a:spcAft>
              <a:defRPr sz="1300" b="0">
                <a:solidFill>
                  <a:srgbClr val="F5F5F5"/>
                </a:solidFill>
                <a:latin typeface="Arial"/>
              </a:defRPr>
            </a:pPr>
            <a:r>
              <a:t>기한 내 완료율 변화</a:t>
            </a:r>
          </a:p>
          <a:p>
            <a:pPr algn="l">
              <a:spcAft>
                <a:spcPts val="839"/>
              </a:spcAft>
              <a:defRPr sz="1300" b="0">
                <a:solidFill>
                  <a:srgbClr val="F5F5F5"/>
                </a:solidFill>
                <a:latin typeface="Arial"/>
              </a:defRPr>
            </a:pPr>
            <a:r>
              <a:t>유용성 · 지속 사용 의향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14400" y="5486400"/>
            <a:ext cx="10332720" cy="1270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566928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80"/>
              </a:spcAft>
              <a:defRPr sz="1300" b="0">
                <a:solidFill>
                  <a:srgbClr val="999999"/>
                </a:solidFill>
                <a:latin typeface="Arial"/>
              </a:defRPr>
            </a:pPr>
            <a:r>
              <a:t>목표치는 초기 2주 실사용 결과를 보고 확정 (11/21)  ·  도입 전 수작업 관리 시간을 측정해 전후 비교</a:t>
            </a:r>
          </a:p>
          <a:p>
            <a:pPr algn="l">
              <a:spcAft>
                <a:spcPts val="680"/>
              </a:spcAft>
              <a:defRPr sz="1300" b="0">
                <a:solidFill>
                  <a:srgbClr val="999999"/>
                </a:solidFill>
                <a:latin typeface="Arial"/>
              </a:defRPr>
            </a:pPr>
            <a:r>
              <a:t>교란 변수(학기말 압박) 인정 → “AI만 잡아낸 액션 수” 등 시기 무관 지표 병행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Arial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914400" y="640080"/>
            <a:ext cx="1270000" cy="355600"/>
          </a:xfrm>
          <a:prstGeom prst="roundRect">
            <a:avLst/>
          </a:prstGeom>
          <a:solidFill>
            <a:srgbClr val="4ECD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7000" rIns="127000" tIns="25400" bIns="25400"/>
          <a:lstStyle/>
          <a:p>
            <a:pPr algn="ctr">
              <a:defRPr sz="1100" b="1">
                <a:solidFill>
                  <a:srgbClr val="0F0F0F"/>
                </a:solidFill>
                <a:latin typeface="Arial"/>
              </a:defRPr>
            </a:pPr>
            <a:r>
              <a:t>수행 계획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1887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5F5F5"/>
                </a:solidFill>
                <a:latin typeface="Arial"/>
              </a:defRPr>
            </a:pPr>
            <a:r>
              <a:t>작게 전체 루프를 돌리고, 쓰면서 완성한다</a:t>
            </a:r>
          </a:p>
        </p:txBody>
      </p:sp>
      <p:sp>
        <p:nvSpPr>
          <p:cNvPr id="4" name="Oval 3"/>
          <p:cNvSpPr/>
          <p:nvPr/>
        </p:nvSpPr>
        <p:spPr>
          <a:xfrm>
            <a:off x="1097280" y="2336800"/>
            <a:ext cx="127000" cy="127000"/>
          </a:xfrm>
          <a:prstGeom prst="ellipse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48080" y="2489200"/>
            <a:ext cx="25400" cy="45720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645920" y="228600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99999"/>
                </a:solidFill>
                <a:latin typeface="Arial"/>
              </a:defRPr>
            </a:pPr>
            <a:r>
              <a:t>10/24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0" y="228600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4ADE80"/>
                </a:solidFill>
                <a:latin typeface="Arial"/>
              </a:defRPr>
            </a:pPr>
            <a:r>
              <a:t>중간 발표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0" y="2286000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50" b="0">
                <a:solidFill>
                  <a:srgbClr val="999999"/>
                </a:solidFill>
                <a:latin typeface="Arial"/>
              </a:defRPr>
            </a:pPr>
            <a:r>
              <a:t>문제 정의 + 설계 발표</a:t>
            </a:r>
          </a:p>
        </p:txBody>
      </p:sp>
      <p:sp>
        <p:nvSpPr>
          <p:cNvPr id="9" name="Oval 8"/>
          <p:cNvSpPr/>
          <p:nvPr/>
        </p:nvSpPr>
        <p:spPr>
          <a:xfrm>
            <a:off x="1097280" y="2903728"/>
            <a:ext cx="127000" cy="127000"/>
          </a:xfrm>
          <a:prstGeom prst="ellipse">
            <a:avLst/>
          </a:prstGeom>
          <a:solidFill>
            <a:srgbClr val="6666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8080" y="3056128"/>
            <a:ext cx="25400" cy="45720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645920" y="2852928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99999"/>
                </a:solidFill>
                <a:latin typeface="Arial"/>
              </a:defRPr>
            </a:pPr>
            <a:r>
              <a:t>10/25 ~ 11/7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0" y="2852928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5F5F5"/>
                </a:solidFill>
                <a:latin typeface="Arial"/>
              </a:defRPr>
            </a:pPr>
            <a:r>
              <a:t>최소 기능 구현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49440" y="2852928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50" b="0">
                <a:solidFill>
                  <a:srgbClr val="999999"/>
                </a:solidFill>
                <a:latin typeface="Arial"/>
              </a:defRPr>
            </a:pPr>
            <a:r>
              <a:t>녹음앱 1개 연결 · 회의 묶음 선택 · 액션 확인 · 기본 팔로업</a:t>
            </a:r>
          </a:p>
        </p:txBody>
      </p:sp>
      <p:sp>
        <p:nvSpPr>
          <p:cNvPr id="14" name="Oval 13"/>
          <p:cNvSpPr/>
          <p:nvPr/>
        </p:nvSpPr>
        <p:spPr>
          <a:xfrm>
            <a:off x="1097280" y="3470656"/>
            <a:ext cx="127000" cy="127000"/>
          </a:xfrm>
          <a:prstGeom prst="ellipse">
            <a:avLst/>
          </a:prstGeom>
          <a:solidFill>
            <a:srgbClr val="6666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48080" y="3623056"/>
            <a:ext cx="25400" cy="45720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45920" y="3419856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99999"/>
                </a:solidFill>
                <a:latin typeface="Arial"/>
              </a:defRPr>
            </a:pPr>
            <a:r>
              <a:t>11/8 ~ 11/21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40480" y="3419856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5F5F5"/>
                </a:solidFill>
                <a:latin typeface="Arial"/>
              </a:defRPr>
            </a:pPr>
            <a:r>
              <a:t>실제 사용 시작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9440" y="3419856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50" b="0">
                <a:solidFill>
                  <a:srgbClr val="999999"/>
                </a:solidFill>
                <a:latin typeface="Arial"/>
              </a:defRPr>
            </a:pPr>
            <a:r>
              <a:t>팀 회의 적용 · 회의 연결 추천 · R&amp;R·일정 보완 · 목표치 확정</a:t>
            </a:r>
          </a:p>
        </p:txBody>
      </p:sp>
      <p:sp>
        <p:nvSpPr>
          <p:cNvPr id="19" name="Oval 18"/>
          <p:cNvSpPr/>
          <p:nvPr/>
        </p:nvSpPr>
        <p:spPr>
          <a:xfrm>
            <a:off x="1097280" y="4037584"/>
            <a:ext cx="127000" cy="127000"/>
          </a:xfrm>
          <a:prstGeom prst="ellipse">
            <a:avLst/>
          </a:prstGeom>
          <a:solidFill>
            <a:srgbClr val="6666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148080" y="4189984"/>
            <a:ext cx="25400" cy="45720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645920" y="3986784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99999"/>
                </a:solidFill>
                <a:latin typeface="Arial"/>
              </a:defRPr>
            </a:pPr>
            <a:r>
              <a:t>11/22 ~ 12/5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40480" y="3986784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5F5F5"/>
                </a:solidFill>
                <a:latin typeface="Arial"/>
              </a:defRPr>
            </a:pPr>
            <a:r>
              <a:t>사용하면서 개선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49440" y="3986784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50" b="0">
                <a:solidFill>
                  <a:srgbClr val="999999"/>
                </a:solidFill>
                <a:latin typeface="Arial"/>
              </a:defRPr>
            </a:pPr>
            <a:r>
              <a:t>답변 해석 · 막힘 파악 · 이전 업무 업데이트 · 안건 연결</a:t>
            </a:r>
          </a:p>
        </p:txBody>
      </p:sp>
      <p:sp>
        <p:nvSpPr>
          <p:cNvPr id="24" name="Oval 23"/>
          <p:cNvSpPr/>
          <p:nvPr/>
        </p:nvSpPr>
        <p:spPr>
          <a:xfrm>
            <a:off x="1097280" y="4604512"/>
            <a:ext cx="127000" cy="127000"/>
          </a:xfrm>
          <a:prstGeom prst="ellipse">
            <a:avLst/>
          </a:prstGeom>
          <a:solidFill>
            <a:srgbClr val="6666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148080" y="4756912"/>
            <a:ext cx="25400" cy="45720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645920" y="4553712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99999"/>
                </a:solidFill>
                <a:latin typeface="Arial"/>
              </a:defRPr>
            </a:pPr>
            <a:r>
              <a:t>12/6 ~ 12/18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40480" y="4553712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5F5F5"/>
                </a:solidFill>
                <a:latin typeface="Arial"/>
              </a:defRPr>
            </a:pPr>
            <a:r>
              <a:t>최종 검증 · 분석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49440" y="4553712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50" b="0">
                <a:solidFill>
                  <a:srgbClr val="999999"/>
                </a:solidFill>
                <a:latin typeface="Arial"/>
              </a:defRPr>
            </a:pPr>
            <a:r>
              <a:t>관리 시간 · 추적 오류 · F/U 정상 처리율 · 팀원 평가 정리</a:t>
            </a:r>
          </a:p>
        </p:txBody>
      </p:sp>
      <p:sp>
        <p:nvSpPr>
          <p:cNvPr id="29" name="Oval 28"/>
          <p:cNvSpPr/>
          <p:nvPr/>
        </p:nvSpPr>
        <p:spPr>
          <a:xfrm>
            <a:off x="1097280" y="5171440"/>
            <a:ext cx="127000" cy="127000"/>
          </a:xfrm>
          <a:prstGeom prst="ellipse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645920" y="512064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99999"/>
                </a:solidFill>
                <a:latin typeface="Arial"/>
              </a:defRPr>
            </a:pPr>
            <a:r>
              <a:t>12/19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40480" y="512064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4ADE80"/>
                </a:solidFill>
                <a:latin typeface="Arial"/>
              </a:defRPr>
            </a:pPr>
            <a:r>
              <a:t>기말 발표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49440" y="5120640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50" b="0">
                <a:solidFill>
                  <a:srgbClr val="999999"/>
                </a:solidFill>
                <a:latin typeface="Arial"/>
              </a:defRPr>
            </a:pPr>
            <a:r>
              <a:t>라이브 데모 + 실제 사용 결과 + 개선 사례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4ADE80"/>
                </a:solidFill>
                <a:latin typeface="Arial"/>
              </a:defRPr>
            </a:pPr>
            <a:r>
              <a:t>11월 초부터 최소 기능을 팀 회의에 적용 → 사용·개선을 병행하며 기말까지 효과 검증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Arial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011680"/>
            <a:ext cx="10058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600" b="1">
                <a:solidFill>
                  <a:srgbClr val="999999"/>
                </a:solidFill>
                <a:latin typeface="Arial"/>
              </a:defRPr>
            </a:pPr>
            <a:r>
              <a:t>기존 도구는</a:t>
            </a:r>
            <a:br/>
            <a:r>
              <a:t>회의를 기록합니다.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600" b="1">
                <a:solidFill>
                  <a:srgbClr val="F5F5F5"/>
                </a:solidFill>
                <a:latin typeface="Arial"/>
              </a:defRPr>
            </a:pPr>
            <a:r>
              <a:t>우리는 회의를 완결합니다.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5120640"/>
            <a:ext cx="2286000" cy="12700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53949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4ADE80"/>
                </a:solidFill>
                <a:latin typeface="Arial"/>
              </a:defRPr>
            </a:pPr>
            <a:r>
              <a:t>FollowIt  ·  팔로잇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94360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66666"/>
                </a:solidFill>
                <a:latin typeface="Arial"/>
              </a:defRPr>
            </a:pPr>
            <a:r>
              <a:t>감사합니다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Arial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
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9"/>
  </p:notesMasterIdLst>
  <p:sldIdLst>
    <p:sldId id="304" r:id="rId2"/>
    <p:sldId id="310" r:id="rId3"/>
    <p:sldId id="311" r:id="rId4"/>
    <p:sldId id="312" r:id="rId5"/>
    <p:sldId id="315" r:id="rId6"/>
    <p:sldId id="314" r:id="rId7"/>
    <p:sldId id="30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5"/>
    <p:restoredTop sz="88757"/>
  </p:normalViewPr>
  <p:slideViewPr>
    <p:cSldViewPr snapToGrid="0" snapToObjects="1">
      <p:cViewPr varScale="1">
        <p:scale>
          <a:sx n="83" d="100"/>
          <a:sy n="83" d="100"/>
        </p:scale>
        <p:origin x="224" y="6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73C35-AE1F-AA49-9485-6CE1300893BD}" type="datetimeFigureOut">
              <a:rPr kumimoji="1" lang="ko-KR" altLang="en-US" smtClean="0"/>
              <a:t>2026. 10. 18.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C1CB2A-AC7D-444B-AE11-4DFA7F6E44A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68275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ko-KR" dirty="0"/>
              <a:t>https://</a:t>
            </a:r>
            <a:r>
              <a:rPr kumimoji="1" lang="en" altLang="ko-KR" dirty="0" err="1"/>
              <a:t>www.atlassian.com</a:t>
            </a:r>
            <a:r>
              <a:rPr kumimoji="1" lang="en" altLang="ko-KR" dirty="0"/>
              <a:t>/blog/productivity/page-led-meetings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1CB2A-AC7D-444B-AE11-4DFA7F6E44A7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45634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Pretendard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Pretendard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Pretendard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Pretendard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Pretendard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Pretendard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Pretendard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Pretendard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Pretendard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265694"/>
            <a:ext cx="5486400" cy="292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9A"/>
                </a:solidFill>
                <a:latin typeface="Pretendard"/>
                <a:ea typeface="Pretendard"/>
                <a:cs typeface="Pretendard"/>
              </a:defRPr>
            </a:pPr>
            <a:r>
              <a:t>KAIST IMMS · 2026 Fall · AI Business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22894"/>
            <a:ext cx="914400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t>회의 이후를</a:t>
            </a:r>
            <a:br/>
            <a:r>
              <a:t>책임지는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7709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EE59B"/>
                </a:solidFill>
                <a:latin typeface="Pretendard"/>
                <a:ea typeface="Pretendard"/>
                <a:cs typeface="Pretendard"/>
              </a:defRPr>
            </a:pPr>
            <a:r>
              <a:rPr dirty="0"/>
              <a:t>Action Keeper (</a:t>
            </a:r>
            <a:r>
              <a:rPr dirty="0" err="1"/>
              <a:t>가칭</a:t>
            </a:r>
            <a:r>
              <a:rPr dirty="0"/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4237494"/>
            <a:ext cx="265176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440694"/>
            <a:ext cx="91440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dirty="0" err="1"/>
              <a:t>녹음된</a:t>
            </a:r>
            <a:r>
              <a:rPr dirty="0"/>
              <a:t> </a:t>
            </a:r>
            <a:r>
              <a:rPr dirty="0" err="1"/>
              <a:t>회의에서</a:t>
            </a:r>
            <a:r>
              <a:rPr dirty="0"/>
              <a:t> </a:t>
            </a:r>
            <a:r>
              <a:rPr dirty="0" err="1"/>
              <a:t>할</a:t>
            </a:r>
            <a:r>
              <a:rPr dirty="0"/>
              <a:t> </a:t>
            </a:r>
            <a:r>
              <a:rPr dirty="0" err="1"/>
              <a:t>일</a:t>
            </a:r>
            <a:r>
              <a:rPr dirty="0"/>
              <a:t> · </a:t>
            </a:r>
            <a:r>
              <a:rPr dirty="0" err="1"/>
              <a:t>담당자</a:t>
            </a:r>
            <a:r>
              <a:rPr dirty="0"/>
              <a:t> · </a:t>
            </a:r>
            <a:r>
              <a:rPr dirty="0" err="1"/>
              <a:t>일정을</a:t>
            </a:r>
            <a:r>
              <a:rPr dirty="0"/>
              <a:t> </a:t>
            </a:r>
            <a:r>
              <a:rPr dirty="0" err="1"/>
              <a:t>추출하고</a:t>
            </a:r>
            <a:r>
              <a:rPr dirty="0"/>
              <a:t>,</a:t>
            </a:r>
            <a:br>
              <a:rPr dirty="0"/>
            </a:br>
            <a:r>
              <a:rPr dirty="0" err="1"/>
              <a:t>일이</a:t>
            </a:r>
            <a:r>
              <a:rPr dirty="0"/>
              <a:t> </a:t>
            </a:r>
            <a:r>
              <a:rPr dirty="0" err="1"/>
              <a:t>끝날</a:t>
            </a:r>
            <a:r>
              <a:rPr dirty="0"/>
              <a:t> </a:t>
            </a:r>
            <a:r>
              <a:rPr dirty="0" err="1"/>
              <a:t>때까지</a:t>
            </a:r>
            <a:r>
              <a:rPr dirty="0"/>
              <a:t> </a:t>
            </a:r>
            <a:r>
              <a:rPr dirty="0" err="1"/>
              <a:t>쫓아다니는</a:t>
            </a:r>
            <a:r>
              <a:rPr dirty="0"/>
              <a:t> AI </a:t>
            </a:r>
            <a:r>
              <a:rPr dirty="0" err="1"/>
              <a:t>워크플로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5304294"/>
            <a:ext cx="9144000" cy="292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9A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dirty="0"/>
              <a:t>TEAM_2 : </a:t>
            </a:r>
            <a:r>
              <a:rPr lang="ko-KR" altLang="en-US" dirty="0" err="1"/>
              <a:t>김신애</a:t>
            </a:r>
            <a:r>
              <a:rPr dirty="0"/>
              <a:t> · </a:t>
            </a:r>
            <a:r>
              <a:rPr lang="ko-KR" altLang="en-US" dirty="0"/>
              <a:t>박승찬</a:t>
            </a:r>
            <a:r>
              <a:rPr dirty="0"/>
              <a:t> · </a:t>
            </a:r>
            <a:r>
              <a:rPr lang="ko-KR" altLang="en-US" dirty="0" err="1"/>
              <a:t>신지엽</a:t>
            </a:r>
            <a:r>
              <a:rPr dirty="0"/>
              <a:t> · </a:t>
            </a:r>
            <a:r>
              <a:rPr lang="ko-KR" altLang="en-US" dirty="0"/>
              <a:t>윤경혜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41378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640080"/>
            <a:ext cx="558800" cy="355600"/>
          </a:xfrm>
          <a:prstGeom prst="rect">
            <a:avLst/>
          </a:prstGeom>
          <a:solidFill>
            <a:srgbClr val="2E2E2E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>
              <a:defRPr sz="1100" b="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rgbClr val="D9D9D9"/>
                </a:solidFill>
              </a:rPr>
              <a:t>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t>회의는 끝났는데, 일은 시작되지 않는다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4114800" cy="2286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8A65"/>
                </a:solidFill>
                <a:latin typeface="Pretendard"/>
                <a:ea typeface="Pretendard"/>
                <a:cs typeface="Pretendard"/>
              </a:defRPr>
            </a:pPr>
            <a:r>
              <a:rPr lang="ko-KR" sz="7200" b="1" dirty="0">
                <a:solidFill>
                  <a:srgbClr val="FF8A65"/>
                </a:solidFill>
              </a:rPr>
              <a:t>54%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400" b="0" dirty="0">
                <a:solidFill>
                  <a:srgbClr val="999999"/>
                </a:solidFill>
              </a:rPr>
              <a:t>회의 후 다음 할 일·담당자를 모른 채</a:t>
            </a:r>
            <a:br>
              <a:rPr lang="ko-KR" sz="1400" b="0" dirty="0">
                <a:solidFill>
                  <a:srgbClr val="999999"/>
                </a:solidFill>
              </a:rPr>
            </a:br>
            <a:r>
              <a:rPr lang="ko-KR" sz="1400" b="0" dirty="0">
                <a:solidFill>
                  <a:srgbClr val="999999"/>
                </a:solidFill>
              </a:rPr>
              <a:t>자리를 뜨는 직장인 비율</a:t>
            </a:r>
            <a:r>
              <a:rPr lang="ko-KR" sz="1400" b="0" baseline="30000" dirty="0">
                <a:solidFill>
                  <a:srgbClr val="999999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4000" y="2377440"/>
            <a:ext cx="5943600" cy="6400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99760" y="2377440"/>
            <a:ext cx="731520" cy="64008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defRPr sz="1800" b="1">
                <a:solidFill>
                  <a:srgbClr val="FF8A65"/>
                </a:solidFill>
                <a:latin typeface="Pretendard"/>
                <a:ea typeface="Pretendard"/>
                <a:cs typeface="Pretendard"/>
              </a:defRPr>
            </a:pPr>
            <a: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2377440"/>
            <a:ext cx="4572000" cy="64008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defRPr sz="1500" b="0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FF8A65"/>
                </a:solidFill>
              </a:rPr>
              <a:t>주인 불명확</a:t>
            </a:r>
            <a:r>
              <a:t> — "그거 누가 하기로 했죠?"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0" y="3200400"/>
            <a:ext cx="5943600" cy="6400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99760" y="3200400"/>
            <a:ext cx="731520" cy="64008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defRPr sz="1800" b="1">
                <a:solidFill>
                  <a:srgbClr val="FF8A65"/>
                </a:solidFill>
                <a:latin typeface="Pretendard"/>
                <a:ea typeface="Pretendard"/>
                <a:cs typeface="Pretendard"/>
              </a:defRPr>
            </a:pPr>
            <a: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3200400"/>
            <a:ext cx="4572000" cy="64008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defRPr sz="1500" b="0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FF8A65"/>
                </a:solidFill>
              </a:rPr>
              <a:t>기한 모호</a:t>
            </a:r>
            <a:r>
              <a:t> — "다음 주쯤", "가능한 빨리"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4023360"/>
            <a:ext cx="5943600" cy="6400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99760" y="4023360"/>
            <a:ext cx="731520" cy="64008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defRPr sz="1800" b="1">
                <a:solidFill>
                  <a:srgbClr val="FF8A65"/>
                </a:solidFill>
                <a:latin typeface="Pretendard"/>
                <a:ea typeface="Pretendard"/>
                <a:cs typeface="Pretendard"/>
              </a:defRPr>
            </a:pPr>
            <a: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4023360"/>
            <a:ext cx="4572000" cy="64008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defRPr sz="1500" b="0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FF8A65"/>
                </a:solidFill>
              </a:rPr>
              <a:t>팔로업 부재</a:t>
            </a:r>
            <a:r>
              <a:t> — 다음 회의에서 확인 없이 넘어감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303520"/>
            <a:ext cx="103632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t>PM이 회의록 정리 → 태스크 등록 → 진행 확인을 수작업으로 하고 있습니다.</a:t>
            </a:r>
            <a:br/>
            <a:r>
              <a:t>이 일이 누락되는 순간, 결정사항은 사라집니다.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t>2</a:t>
            </a:r>
          </a:p>
        </p:txBody>
      </p:sp>
      <p:sp>
        <p:nvSpPr>
          <p:cNvPr id="40" name="Footnote"/>
          <p:cNvSpPr txBox="1"/>
          <p:nvPr/>
        </p:nvSpPr>
        <p:spPr>
          <a:xfrm>
            <a:off x="914400" y="6299200"/>
            <a:ext cx="10058400" cy="2540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r>
              <a:rPr lang="ko-KR" sz="1000" dirty="0">
                <a:solidFill>
                  <a:srgbClr val="8A8A8A"/>
                </a:solidFill>
                <a:latin typeface="Pretendard"/>
                <a:ea typeface="Pretendard"/>
                <a:cs typeface="Pretendard"/>
              </a:rPr>
              <a:t>1. Source: Atlassian, 지식근로자 5,000명 대상 설문 (2024)</a:t>
            </a:r>
          </a:p>
        </p:txBody>
      </p:sp>
    </p:spTree>
    <p:extLst>
      <p:ext uri="{BB962C8B-B14F-4D97-AF65-F5344CB8AC3E}">
        <p14:creationId xmlns:p14="http://schemas.microsoft.com/office/powerpoint/2010/main" val="2444770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640080"/>
            <a:ext cx="558800" cy="355600"/>
          </a:xfrm>
          <a:prstGeom prst="rect">
            <a:avLst/>
          </a:prstGeom>
          <a:solidFill>
            <a:srgbClr val="2E2E2E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>
              <a:defRPr sz="1100" b="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rgbClr val="D9D9D9"/>
                </a:solidFill>
              </a:rPr>
              <a:t>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t>기존 회의 AI는 '등록'에서 멈춘다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5044440" cy="29260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2623086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1400" dirty="0" err="1">
                <a:solidFill>
                  <a:srgbClr val="FF8A65"/>
                </a:solidFill>
                <a:latin typeface="Pretendard"/>
                <a:ea typeface="Pretendard"/>
                <a:cs typeface="Pretendard"/>
              </a:rPr>
              <a:t>Circleback</a:t>
            </a:r>
            <a:r>
              <a:rPr sz="1400" dirty="0">
                <a:solidFill>
                  <a:srgbClr val="FF8A65"/>
                </a:solidFill>
                <a:latin typeface="Pretendard"/>
                <a:ea typeface="Pretendard"/>
                <a:cs typeface="Pretendard"/>
              </a:rPr>
              <a:t> · Otter · </a:t>
            </a:r>
            <a:r>
              <a:rPr sz="1400" dirty="0" err="1">
                <a:solidFill>
                  <a:srgbClr val="FF8A65"/>
                </a:solidFill>
                <a:latin typeface="Pretendard"/>
                <a:ea typeface="Pretendard"/>
                <a:cs typeface="Pretendard"/>
              </a:rPr>
              <a:t>클로바노트</a:t>
            </a:r>
            <a:r>
              <a:rPr sz="1400" dirty="0">
                <a:solidFill>
                  <a:srgbClr val="FF8A6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FF8A65"/>
                </a:solidFill>
                <a:latin typeface="Pretendard"/>
                <a:ea typeface="Pretendard"/>
                <a:cs typeface="Pretendard"/>
              </a:rPr>
              <a:t>등</a:t>
            </a:r>
            <a:endParaRPr sz="1400" dirty="0">
              <a:solidFill>
                <a:srgbClr val="FF8A65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80160" y="3017520"/>
            <a:ext cx="4297680" cy="127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dirty="0" err="1">
                <a:solidFill>
                  <a:schemeClr val="bg1">
                    <a:lumMod val="75000"/>
                  </a:schemeClr>
                </a:solidFill>
              </a:rPr>
              <a:t>녹음</a:t>
            </a:r>
            <a:r>
              <a:rPr dirty="0">
                <a:solidFill>
                  <a:schemeClr val="bg1">
                    <a:lumMod val="75000"/>
                  </a:schemeClr>
                </a:solidFill>
              </a:rPr>
              <a:t> → </a:t>
            </a:r>
            <a:r>
              <a:rPr dirty="0" err="1">
                <a:solidFill>
                  <a:schemeClr val="bg1">
                    <a:lumMod val="75000"/>
                  </a:schemeClr>
                </a:solidFill>
              </a:rPr>
              <a:t>전사</a:t>
            </a:r>
            <a:endParaRPr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1600" y="3547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dirty="0">
                <a:solidFill>
                  <a:schemeClr val="bg1">
                    <a:lumMod val="75000"/>
                  </a:schemeClr>
                </a:solidFill>
              </a:rPr>
              <a:t>AI </a:t>
            </a:r>
            <a:r>
              <a:rPr dirty="0" err="1">
                <a:solidFill>
                  <a:schemeClr val="bg1">
                    <a:lumMod val="75000"/>
                  </a:schemeClr>
                </a:solidFill>
              </a:rPr>
              <a:t>요약</a:t>
            </a:r>
            <a:endParaRPr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71600" y="38953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dirty="0" err="1">
                <a:solidFill>
                  <a:schemeClr val="bg1">
                    <a:lumMod val="75000"/>
                  </a:schemeClr>
                </a:solidFill>
              </a:rPr>
              <a:t>액션아이템</a:t>
            </a:r>
            <a:r>
              <a:rPr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75000"/>
                  </a:schemeClr>
                </a:solidFill>
              </a:rPr>
              <a:t>추출</a:t>
            </a:r>
            <a:endParaRPr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71600" y="42428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dirty="0" err="1">
                <a:solidFill>
                  <a:schemeClr val="bg1">
                    <a:lumMod val="75000"/>
                  </a:schemeClr>
                </a:solidFill>
              </a:rPr>
              <a:t>태스크</a:t>
            </a:r>
            <a:r>
              <a:rPr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75000"/>
                  </a:schemeClr>
                </a:solidFill>
              </a:rPr>
              <a:t>등록</a:t>
            </a:r>
            <a:endParaRPr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71600" y="4636782"/>
            <a:ext cx="3657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8A65"/>
                </a:solidFill>
                <a:latin typeface="Pretendard"/>
                <a:ea typeface="Pretendard"/>
                <a:cs typeface="Pretendard"/>
              </a:defRPr>
            </a:pPr>
            <a:r>
              <a:rPr dirty="0">
                <a:solidFill>
                  <a:schemeClr val="bg1">
                    <a:lumMod val="50000"/>
                  </a:schemeClr>
                </a:solidFill>
              </a:rPr>
              <a:t>─── </a:t>
            </a:r>
            <a:r>
              <a:rPr dirty="0" err="1">
                <a:solidFill>
                  <a:schemeClr val="bg1">
                    <a:lumMod val="50000"/>
                  </a:schemeClr>
                </a:solidFill>
              </a:rPr>
              <a:t>여기서</a:t>
            </a:r>
            <a:r>
              <a:rPr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50000"/>
                  </a:schemeClr>
                </a:solidFill>
              </a:rPr>
              <a:t>끝</a:t>
            </a:r>
            <a:r>
              <a:rPr dirty="0">
                <a:solidFill>
                  <a:schemeClr val="bg1">
                    <a:lumMod val="50000"/>
                  </a:schemeClr>
                </a:solidFill>
              </a:rPr>
              <a:t> ───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60" y="2377440"/>
            <a:ext cx="5044440" cy="292608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98920" y="262308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E59B"/>
                </a:solidFill>
                <a:latin typeface="Pretendard"/>
                <a:ea typeface="Pretendard"/>
                <a:cs typeface="Pretendard"/>
              </a:defRPr>
            </a:pPr>
            <a:r>
              <a:t>Action Keeper (가칭)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98920" y="3017520"/>
            <a:ext cx="4297680" cy="12700"/>
          </a:xfrm>
          <a:prstGeom prst="rect">
            <a:avLst/>
          </a:prstGeom>
          <a:solidFill>
            <a:srgbClr val="8EE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90360" y="3200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dirty="0" err="1">
                <a:solidFill>
                  <a:schemeClr val="bg1">
                    <a:lumMod val="75000"/>
                  </a:schemeClr>
                </a:solidFill>
              </a:rPr>
              <a:t>녹음</a:t>
            </a:r>
            <a:r>
              <a:rPr dirty="0">
                <a:solidFill>
                  <a:schemeClr val="bg1">
                    <a:lumMod val="75000"/>
                  </a:schemeClr>
                </a:solidFill>
              </a:rPr>
              <a:t> → </a:t>
            </a:r>
            <a:r>
              <a:rPr dirty="0" err="1">
                <a:solidFill>
                  <a:schemeClr val="bg1">
                    <a:lumMod val="75000"/>
                  </a:schemeClr>
                </a:solidFill>
              </a:rPr>
              <a:t>전사</a:t>
            </a:r>
            <a:r>
              <a:rPr dirty="0">
                <a:solidFill>
                  <a:schemeClr val="bg1">
                    <a:lumMod val="75000"/>
                  </a:schemeClr>
                </a:solidFill>
              </a:rPr>
              <a:t> → </a:t>
            </a:r>
            <a:r>
              <a:rPr dirty="0" err="1">
                <a:solidFill>
                  <a:schemeClr val="bg1">
                    <a:lumMod val="75000"/>
                  </a:schemeClr>
                </a:solidFill>
              </a:rPr>
              <a:t>추출</a:t>
            </a:r>
            <a:r>
              <a:rPr dirty="0">
                <a:solidFill>
                  <a:schemeClr val="bg1">
                    <a:lumMod val="75000"/>
                  </a:schemeClr>
                </a:solidFill>
              </a:rPr>
              <a:t> → </a:t>
            </a:r>
            <a:r>
              <a:rPr dirty="0" err="1">
                <a:solidFill>
                  <a:schemeClr val="bg1">
                    <a:lumMod val="75000"/>
                  </a:schemeClr>
                </a:solidFill>
              </a:rPr>
              <a:t>등록</a:t>
            </a:r>
            <a:endParaRPr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256520" y="32004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t>기존 활용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0360" y="35478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dirty="0"/>
              <a:t>R&amp;R </a:t>
            </a:r>
            <a:r>
              <a:rPr dirty="0" err="1"/>
              <a:t>추천</a:t>
            </a:r>
            <a:r>
              <a:rPr dirty="0"/>
              <a:t> + </a:t>
            </a:r>
            <a:r>
              <a:rPr dirty="0" err="1"/>
              <a:t>타임라인</a:t>
            </a:r>
            <a:r>
              <a:rPr dirty="0"/>
              <a:t> </a:t>
            </a:r>
            <a:r>
              <a:rPr dirty="0" err="1"/>
              <a:t>역산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10256520" y="35478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EE59B"/>
                </a:solidFill>
                <a:latin typeface="Pretendard"/>
                <a:ea typeface="Pretendard"/>
                <a:cs typeface="Pretendard"/>
              </a:defRPr>
            </a:pPr>
            <a:r>
              <a:t>NEW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0360" y="38953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dirty="0"/>
              <a:t>H</a:t>
            </a:r>
            <a:r>
              <a:rPr lang="en-US" dirty="0"/>
              <a:t>uman </a:t>
            </a:r>
            <a:r>
              <a:rPr dirty="0"/>
              <a:t>I</a:t>
            </a:r>
            <a:r>
              <a:rPr lang="en-US" dirty="0"/>
              <a:t>n </a:t>
            </a:r>
            <a:r>
              <a:rPr dirty="0"/>
              <a:t>T</a:t>
            </a:r>
            <a:r>
              <a:rPr lang="en-US" dirty="0"/>
              <a:t>he </a:t>
            </a:r>
            <a:r>
              <a:rPr dirty="0"/>
              <a:t>L</a:t>
            </a:r>
            <a:r>
              <a:rPr lang="en-US" dirty="0"/>
              <a:t>oop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10256520" y="389534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EE59B"/>
                </a:solidFill>
                <a:latin typeface="Pretendard"/>
                <a:ea typeface="Pretendard"/>
                <a:cs typeface="Pretendard"/>
              </a:defRPr>
            </a:pPr>
            <a:r>
              <a:t>NEW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0360" y="42428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dirty="0" err="1"/>
              <a:t>팔로업</a:t>
            </a:r>
            <a:r>
              <a:rPr dirty="0"/>
              <a:t> </a:t>
            </a:r>
            <a:r>
              <a:rPr dirty="0" err="1"/>
              <a:t>추적</a:t>
            </a:r>
            <a:r>
              <a:rPr dirty="0"/>
              <a:t> + </a:t>
            </a:r>
            <a:r>
              <a:rPr dirty="0" err="1"/>
              <a:t>답변</a:t>
            </a:r>
            <a:r>
              <a:rPr dirty="0"/>
              <a:t> </a:t>
            </a:r>
            <a:r>
              <a:rPr dirty="0" err="1"/>
              <a:t>해석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10256520" y="424281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EE59B"/>
                </a:solidFill>
                <a:latin typeface="Pretendard"/>
                <a:ea typeface="Pretendard"/>
                <a:cs typeface="Pretendard"/>
              </a:defRPr>
            </a:pPr>
            <a:r>
              <a:t>NEW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0360" y="45902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t>미완료 → 다음 회의 안건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56520" y="45902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EE59B"/>
                </a:solidFill>
                <a:latin typeface="Pretendard"/>
                <a:ea typeface="Pretendard"/>
                <a:cs typeface="Pretendard"/>
              </a:defRPr>
            </a:pPr>
            <a:r>
              <a:t>NEW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66928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EE59B"/>
                </a:solidFill>
                <a:latin typeface="Pretendard"/>
                <a:ea typeface="Pretendard"/>
                <a:cs typeface="Pretendard"/>
              </a:defRPr>
            </a:pPr>
            <a:r>
              <a:t>“기존 도구는 회의를 기록합니다. 우리는 회의를 완결합니다.”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12648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t>추출·등록은 검증된 템플릿을 활용하고, 확인 · 추적 · 완결에 집중합니다.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57462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640080"/>
            <a:ext cx="685800" cy="355600"/>
          </a:xfrm>
          <a:prstGeom prst="rect">
            <a:avLst/>
          </a:prstGeom>
          <a:solidFill>
            <a:srgbClr val="2E2E2E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>
              <a:defRPr sz="1100" b="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rgbClr val="D9D9D9"/>
                </a:solidFill>
              </a:rPr>
              <a:t>솔루션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t>녹음부터 다음 회의까지, 끊기지 않는 고리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1859280" cy="157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220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EE59B"/>
                </a:solidFill>
                <a:latin typeface="Pretendard"/>
                <a:ea typeface="Pretendard"/>
                <a:cs typeface="Pretendard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200" y="2926080"/>
            <a:ext cx="150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t>기록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200" y="3291840"/>
            <a:ext cx="1503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1400"/>
              <a:t>녹음 → STT</a:t>
            </a:r>
            <a:br>
              <a:rPr sz="1400"/>
            </a:br>
            <a:r>
              <a:rPr sz="1400"/>
              <a:t>화자 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3680" y="2890520"/>
            <a:ext cx="2667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40380" y="2377440"/>
            <a:ext cx="1859280" cy="157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1818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EE59B"/>
                </a:solidFill>
                <a:latin typeface="Pretendard"/>
                <a:ea typeface="Pretendard"/>
                <a:cs typeface="Pretendard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180" y="2926080"/>
            <a:ext cx="150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t>추출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180" y="3291840"/>
            <a:ext cx="1503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1400"/>
              <a:t>LLM 분석</a:t>
            </a:r>
            <a:br>
              <a:rPr sz="1400"/>
            </a:br>
            <a:r>
              <a:rPr sz="1400"/>
              <a:t>액션·담당자·기한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9660" y="2890520"/>
            <a:ext cx="2667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2377440"/>
            <a:ext cx="1859280" cy="157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4416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EE59B"/>
                </a:solidFill>
                <a:latin typeface="Pretendard"/>
                <a:ea typeface="Pretendard"/>
                <a:cs typeface="Pretendard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4160" y="2926080"/>
            <a:ext cx="150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t>배정+확인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4160" y="3291840"/>
            <a:ext cx="1503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1400"/>
              <a:t>R&amp;R 추천</a:t>
            </a:r>
            <a:br>
              <a:rPr sz="1400"/>
            </a:br>
            <a:r>
              <a:rPr sz="1400"/>
              <a:t>HITL 승인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5640" y="2890520"/>
            <a:ext cx="2667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2340" y="2377440"/>
            <a:ext cx="1859280" cy="157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7014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EE59B"/>
                </a:solidFill>
                <a:latin typeface="Pretendard"/>
                <a:ea typeface="Pretendard"/>
                <a:cs typeface="Pretendard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0140" y="2926080"/>
            <a:ext cx="150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t>추적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0140" y="3291840"/>
            <a:ext cx="1503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1400"/>
              <a:t>D-2 팔로업</a:t>
            </a:r>
            <a:br>
              <a:rPr sz="1400"/>
            </a:br>
            <a:r>
              <a:rPr sz="1400"/>
              <a:t>답변 해석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1620" y="2890520"/>
            <a:ext cx="2667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2377440"/>
            <a:ext cx="1859280" cy="157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9612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EE59B"/>
                </a:solidFill>
                <a:latin typeface="Pretendard"/>
                <a:ea typeface="Pretendard"/>
                <a:cs typeface="Pretendard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96120" y="2926080"/>
            <a:ext cx="150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t>순환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6120" y="3291840"/>
            <a:ext cx="1503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1400"/>
              <a:t>미완료 → 안건</a:t>
            </a:r>
            <a:br>
              <a:rPr sz="1400"/>
            </a:br>
            <a:r>
              <a:rPr sz="1400"/>
              <a:t>다음 회의 연결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52800" y="4229100"/>
            <a:ext cx="5486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EE59B"/>
                </a:solidFill>
                <a:latin typeface="Pretendard"/>
                <a:ea typeface="Pretendard"/>
                <a:cs typeface="Pretendard"/>
              </a:defRPr>
            </a:pPr>
            <a:r>
              <a:t>↻ STAGE 5 완료 → 다음 회의 녹음 → STAGE 1 (closed loop)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937760"/>
            <a:ext cx="103632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t>왜 AI여야 하는가 (규칙으로는 불가능한 3가지)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577840"/>
            <a:ext cx="10058400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3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t>“그건 제가 한번 볼게요” → 액션아이템 판단 (한국어 화법 맥락)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t>“중간발표 전까지는 돼야죠” → 암묵적 기한을 실제 날짜로 변환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t>“자료가 아직 안 와서요” → </a:t>
            </a:r>
            <a:r>
              <a:rPr sz="1400">
                <a:solidFill>
                  <a:srgbClr val="FF8A65"/>
                </a:solidFill>
              </a:rPr>
              <a:t>막힘(blocker)</a:t>
            </a:r>
            <a:r>
              <a:t> 상태 자동 분류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73350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640080"/>
            <a:ext cx="939800" cy="355600"/>
          </a:xfrm>
          <a:prstGeom prst="rect">
            <a:avLst/>
          </a:prstGeom>
          <a:solidFill>
            <a:srgbClr val="2E2E2E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>
              <a:defRPr sz="1100" b="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rgbClr val="D9D9D9"/>
                </a:solidFill>
              </a:rPr>
              <a:t>성공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dirty="0"/>
              <a:t>정확한 추출, 끝까지 가는 실행, 줄어든 수작업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3271520" cy="25603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840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EE59B"/>
                </a:solidFill>
                <a:latin typeface="Pretendard"/>
                <a:ea typeface="Pretendard"/>
                <a:cs typeface="Pretendard"/>
              </a:defRPr>
            </a:pPr>
            <a:r>
              <a:t>품질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840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t>AI가 잘 뽑는가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68400" y="3200400"/>
            <a:ext cx="2560320" cy="127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68400" y="33832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60"/>
              </a:spcAft>
              <a:defRPr sz="1400" b="0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t>재현율 ≥ 90%</a:t>
            </a:r>
          </a:p>
          <a:p>
            <a:pPr algn="l">
              <a:spcAft>
                <a:spcPts val="1160"/>
              </a:spcAft>
              <a:defRPr sz="1400" b="0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t>정밀도 ≥ 85%</a:t>
            </a:r>
          </a:p>
          <a:p>
            <a:pPr algn="l">
              <a:spcAft>
                <a:spcPts val="1160"/>
              </a:spcAft>
              <a:defRPr sz="1400" b="0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t>수정률 ≤ 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0240" y="2377440"/>
            <a:ext cx="3271520" cy="25603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1424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EE59B"/>
                </a:solidFill>
                <a:latin typeface="Pretendard"/>
                <a:ea typeface="Pretendard"/>
                <a:cs typeface="Pretendard"/>
              </a:defRPr>
            </a:pPr>
            <a:r>
              <a:t>성과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424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t>일이 실제로 끝나는가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14240" y="3200400"/>
            <a:ext cx="2560320" cy="127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14240" y="3383280"/>
            <a:ext cx="27432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60"/>
              </a:spcAft>
              <a:defRPr sz="1400" b="0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dirty="0" err="1"/>
              <a:t>기한</a:t>
            </a:r>
            <a:r>
              <a:rPr dirty="0"/>
              <a:t> </a:t>
            </a:r>
            <a:r>
              <a:rPr dirty="0" err="1"/>
              <a:t>내</a:t>
            </a:r>
            <a:r>
              <a:rPr dirty="0"/>
              <a:t> </a:t>
            </a:r>
            <a:r>
              <a:rPr dirty="0" err="1"/>
              <a:t>완료율</a:t>
            </a:r>
            <a:r>
              <a:rPr lang="en-US" dirty="0">
                <a:solidFill>
                  <a:srgbClr val="F5F5F5"/>
                </a:solidFill>
              </a:rPr>
              <a:t> = </a:t>
            </a:r>
            <a:r>
              <a:rPr dirty="0">
                <a:solidFill>
                  <a:srgbClr val="8EE59B"/>
                </a:solidFill>
              </a:rPr>
              <a:t>+30%p</a:t>
            </a:r>
            <a:r>
              <a:rPr dirty="0"/>
              <a:t> ⭐</a:t>
            </a:r>
          </a:p>
          <a:p>
            <a:pPr algn="l">
              <a:spcAft>
                <a:spcPts val="1160"/>
              </a:spcAft>
              <a:defRPr sz="1400" b="0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dirty="0" err="1"/>
              <a:t>주인</a:t>
            </a:r>
            <a:r>
              <a:rPr dirty="0"/>
              <a:t> </a:t>
            </a:r>
            <a:r>
              <a:rPr dirty="0" err="1"/>
              <a:t>없는</a:t>
            </a:r>
            <a:r>
              <a:rPr dirty="0"/>
              <a:t> </a:t>
            </a:r>
            <a:r>
              <a:rPr dirty="0" err="1"/>
              <a:t>액션</a:t>
            </a:r>
            <a:r>
              <a:rPr dirty="0"/>
              <a:t> = </a:t>
            </a:r>
            <a:r>
              <a:rPr dirty="0">
                <a:solidFill>
                  <a:srgbClr val="8EE59B"/>
                </a:solidFill>
              </a:rPr>
              <a:t>0건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6080" y="2377440"/>
            <a:ext cx="3271520" cy="25603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6008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EE59B"/>
                </a:solidFill>
                <a:latin typeface="Pretendard"/>
                <a:ea typeface="Pretendard"/>
                <a:cs typeface="Pretendard"/>
              </a:defRPr>
            </a:pPr>
            <a:r>
              <a:t>효율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008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t>사람이 편해지는가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0080" y="3200400"/>
            <a:ext cx="2560320" cy="127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60080" y="33832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60"/>
              </a:spcAft>
              <a:defRPr sz="1400" b="0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dirty="0" err="1"/>
              <a:t>회의</a:t>
            </a:r>
            <a:r>
              <a:rPr dirty="0"/>
              <a:t> </a:t>
            </a:r>
            <a:r>
              <a:rPr dirty="0" err="1"/>
              <a:t>후</a:t>
            </a:r>
            <a:r>
              <a:rPr dirty="0"/>
              <a:t> </a:t>
            </a:r>
            <a:r>
              <a:rPr dirty="0" err="1"/>
              <a:t>정리</a:t>
            </a:r>
            <a:r>
              <a:rPr dirty="0"/>
              <a:t> </a:t>
            </a:r>
            <a:r>
              <a:rPr dirty="0" err="1"/>
              <a:t>시간</a:t>
            </a:r>
            <a:endParaRPr dirty="0"/>
          </a:p>
          <a:p>
            <a:pPr algn="l">
              <a:spcAft>
                <a:spcPts val="1160"/>
              </a:spcAft>
              <a:defRPr sz="1400" b="0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dirty="0"/>
              <a:t>30분 → </a:t>
            </a:r>
            <a:r>
              <a:rPr dirty="0">
                <a:solidFill>
                  <a:srgbClr val="8EE59B"/>
                </a:solidFill>
              </a:rPr>
              <a:t>5분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303520"/>
            <a:ext cx="103632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t>실험 설계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06440"/>
            <a:ext cx="10058400" cy="582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80"/>
              </a:spcAft>
              <a:defRPr sz="13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t>전후 비교: 도입 전 2주(수작업) vs 도입 후 6주 · 팀 회의 자체가 실험장</a:t>
            </a:r>
          </a:p>
          <a:p>
            <a:pPr algn="l">
              <a:spcAft>
                <a:spcPts val="680"/>
              </a:spcAft>
              <a:defRPr sz="13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t>교란 변수(학기말 압박) 인정 → “AI만 잡아낸 액션 수” 등 시기 무관 지표 병행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96123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640080"/>
            <a:ext cx="939800" cy="355600"/>
          </a:xfrm>
          <a:prstGeom prst="rect">
            <a:avLst/>
          </a:prstGeom>
          <a:solidFill>
            <a:srgbClr val="2E2E2E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>
              <a:defRPr sz="1100" b="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rgbClr val="D9D9D9"/>
                </a:solidFill>
              </a:rPr>
              <a:t>수행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dirty="0"/>
              <a:t>직접 테스트하며 서비스를 구현할 예정입니다</a:t>
            </a:r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1097280" y="2428240"/>
            <a:ext cx="127000" cy="127000"/>
          </a:xfrm>
          <a:prstGeom prst="ellipse">
            <a:avLst/>
          </a:prstGeom>
          <a:solidFill>
            <a:srgbClr val="8EE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48080" y="2580640"/>
            <a:ext cx="25400" cy="4572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t>10/24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E59B"/>
                </a:solidFill>
                <a:latin typeface="Pretendard"/>
                <a:ea typeface="Pretendard"/>
                <a:cs typeface="Pretendard"/>
              </a:defRPr>
            </a:pPr>
            <a:r>
              <a:t>중간 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377440"/>
            <a:ext cx="396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t>문제 정의 + 설계 발표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995168"/>
            <a:ext cx="127000" cy="1270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8080" y="3147568"/>
            <a:ext cx="25400" cy="4572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0" y="29443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t>10/25 ~ 11/7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9443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t>STAGE 1–2 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944368"/>
            <a:ext cx="396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t>녹음→추출→승인→등록 (최소 기능)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562096"/>
            <a:ext cx="127000" cy="1270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48080" y="3714496"/>
            <a:ext cx="25400" cy="4572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0" y="35112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t>11/8 ~ 11/21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5112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t>STAGE 3 + 실데이터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511296"/>
            <a:ext cx="396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t>R&amp;R 추천 · 타임라인 · 팀 회의 적용 시작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4129024"/>
            <a:ext cx="127000" cy="1270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48080" y="4281424"/>
            <a:ext cx="25400" cy="4572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45920" y="40782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t>11/22 ~ 12/5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0782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t>STAGE 4–5 순환 완성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078224"/>
            <a:ext cx="396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t>팔로업 · 안건 · 대시보드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" y="4695952"/>
            <a:ext cx="127000" cy="1270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48080" y="4848352"/>
            <a:ext cx="25400" cy="4572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645920" y="46451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t>12/6 ~ 12/18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6451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t>데이터 축적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645152"/>
            <a:ext cx="396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t>이행률 데이터 수집 · 성과 분석</a:t>
            </a:r>
          </a:p>
        </p:txBody>
      </p:sp>
      <p:sp>
        <p:nvSpPr>
          <p:cNvPr id="29" name="Oval 28"/>
          <p:cNvSpPr/>
          <p:nvPr/>
        </p:nvSpPr>
        <p:spPr>
          <a:xfrm>
            <a:off x="1097280" y="5262880"/>
            <a:ext cx="127000" cy="127000"/>
          </a:xfrm>
          <a:prstGeom prst="ellipse">
            <a:avLst/>
          </a:prstGeom>
          <a:solidFill>
            <a:srgbClr val="8EE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645920" y="5212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t>12/19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212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E59B"/>
                </a:solidFill>
                <a:latin typeface="Pretendard"/>
                <a:ea typeface="Pretendard"/>
                <a:cs typeface="Pretendard"/>
              </a:defRPr>
            </a:pPr>
            <a:r>
              <a:t>기말 발표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212080"/>
            <a:ext cx="396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t>라이브 데모 + 실측 결과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EE59B"/>
                </a:solidFill>
                <a:latin typeface="Pretendard"/>
                <a:ea typeface="Pretendard"/>
                <a:cs typeface="Pretendard"/>
              </a:defRPr>
            </a:pPr>
            <a:r>
              <a:t>11월 초부터 팀 회의에 실적용 → 5~6주치 실데이터 확보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04658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t>기존 도구는</a:t>
            </a:r>
            <a:br/>
            <a:r>
              <a:t>회의를 기록합니다.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t>우리는 회의를 완결합니다.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120640"/>
            <a:ext cx="2286000" cy="12700"/>
          </a:xfrm>
          <a:prstGeom prst="rect">
            <a:avLst/>
          </a:prstGeom>
          <a:solidFill>
            <a:srgbClr val="8EE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EE59B"/>
                </a:solidFill>
                <a:latin typeface="Pretendard"/>
                <a:ea typeface="Pretendard"/>
                <a:cs typeface="Pretendard"/>
              </a:defRPr>
            </a:pPr>
            <a:r>
              <a:t>Action Keeper (가칭)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t>감사합니다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21824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92314583286]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retendard"/>
        <a:ea typeface="Pretendard"/>
        <a:cs typeface="Pretendard"/>
        <a:font script="Jpan" typeface="ＭＳ Ｐゴシック"/>
        <a:font script="Hang" typeface="Pretendard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Pretendard"/>
        <a:font script="Jpan" typeface="ＭＳ Ｐゴシック"/>
        <a:font script="Hang" typeface="Pretendard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4AD3AE3-2B9F-E045-A01C-94988B8AF90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2d631ff-0623-4db0-aa4a-f2d5430b2a7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586</Words>
  <Application>Microsoft Macintosh PowerPoint</Application>
  <PresentationFormat>와이드스크린</PresentationFormat>
  <Paragraphs>116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Pretendard</vt:lpstr>
      <vt:lpstr>Office Theme [1792314583286]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박승찬</cp:lastModifiedBy>
  <cp:revision>18</cp:revision>
  <dcterms:created xsi:type="dcterms:W3CDTF">2013-01-27T09:14:16Z</dcterms:created>
  <dcterms:modified xsi:type="dcterms:W3CDTF">2026-10-18T09:33:10Z</dcterms:modified>
  <cp:category/>
</cp:coreProperties>
</file>
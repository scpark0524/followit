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KAIST IMMS  ·  2026 Fall  ·  AI Business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5F5F5"/>
                </a:solidFill>
                <a:latin typeface="Arial"/>
              </a:defRPr>
            </a:pPr>
            <a:r>
              <a:t>회의 이후를</a:t>
            </a:r>
            <a:br/>
            <a:r>
              <a:t>책임지는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Arial"/>
              </a:defRPr>
            </a:pPr>
            <a:r>
              <a:t>FollowIt  ·  팔로잇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Arial"/>
              </a:defRPr>
            </a:pPr>
            <a:r>
              <a:t>녹음된 회의에서 할 일 · 담당자 · 일정을 추출하고,</a:t>
            </a:r>
            <a:br/>
            <a:r>
              <a:t>일이 끝날 때까지 쫓아다니는 AI 워크플로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TEAM_2 : 김신애 · 박승찬 · 신지엽 · 윤경혜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736600" cy="3556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sz="1100" b="1">
                <a:solidFill>
                  <a:srgbClr val="0F0F0F"/>
                </a:solidFill>
                <a:latin typeface="Arial"/>
              </a:defRPr>
            </a:pPr>
            <a: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Arial"/>
              </a:defRPr>
            </a:pPr>
            <a:r>
              <a:t>회의는 끝났는데, 일은 시작되지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4114800" cy="2194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4A"/>
                </a:solidFill>
                <a:latin typeface="Arial"/>
              </a:defRPr>
            </a:pPr>
            <a:r>
              <a:t>54%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회의 후 다음 할 일·담당자를 모른 채</a:t>
            </a:r>
            <a:br/>
            <a:r>
              <a:t>자리를 뜨는 직장인 비율¹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560320"/>
            <a:ext cx="5577840" cy="5943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4A"/>
                </a:solidFill>
                <a:latin typeface="Arial"/>
              </a:defRPr>
            </a:pPr>
            <a: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Arial"/>
              </a:defRPr>
            </a:pPr>
            <a:r>
              <a:t>주인 불명확 — "그거 누가 하기로 했죠?"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337560"/>
            <a:ext cx="5577840" cy="5943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4A"/>
                </a:solidFill>
                <a:latin typeface="Arial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Arial"/>
              </a:defRPr>
            </a:pPr>
            <a:r>
              <a:t>기한 모호 — "다음 주쯤", "가능한 빨리"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5577840" cy="5943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4A"/>
                </a:solidFill>
                <a:latin typeface="Arial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Arial"/>
              </a:defRPr>
            </a:pPr>
            <a:r>
              <a:t>팔로업 부재 — 다음 회의에서 확인 없이 넘어감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Arial"/>
              </a:defRPr>
            </a:pPr>
            <a:r>
              <a:t>PM이 회의록 정리 → 태스크 등록 → 진행 확인을 수작업으로 하고 있습니다.</a:t>
            </a:r>
            <a:br/>
            <a:r>
              <a:t>이 일이 누락되는 순간, 결정사항은 사라집니다.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1. Source: Atlassian, 지식근로자 5,000명 대상 설문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736600" cy="3556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sz="1100" b="1">
                <a:solidFill>
                  <a:srgbClr val="0F0F0F"/>
                </a:solidFill>
                <a:latin typeface="Arial"/>
              </a:defRPr>
            </a:pPr>
            <a: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Arial"/>
              </a:defRPr>
            </a:pPr>
            <a:r>
              <a:t>기존 회의 AI는 '등록'에서 멈춘다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31089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4A"/>
                </a:solidFill>
                <a:latin typeface="Arial"/>
              </a:defRPr>
            </a:pPr>
            <a:r>
              <a:t>Circleback · Otter · 클로바노트 등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926080"/>
            <a:ext cx="429768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27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Arial"/>
              </a:defRPr>
            </a:pPr>
            <a:r>
              <a:t>녹음 → 전사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1272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Arial"/>
              </a:defRPr>
            </a:pPr>
            <a:r>
              <a:t>AI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112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95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Arial"/>
              </a:defRPr>
            </a:pPr>
            <a:r>
              <a:t>액션아이템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953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Arial"/>
              </a:defRPr>
            </a:pPr>
            <a:r>
              <a:t>태스크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793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─── 여기서 끝 ───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029200" cy="3108960"/>
          </a:xfrm>
          <a:prstGeom prst="round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FollowIt (팔로잇)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26080"/>
            <a:ext cx="4297680" cy="12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906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녹음 → 전사 → 추출 →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090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기존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655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회의 연결 · 맥락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3465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R&amp;R 추천 + 타임라인 역산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153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Human In The Loop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42153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902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팔로업 추적 + 답변 해석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5902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651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5F5F5"/>
                </a:solidFill>
                <a:latin typeface="Arial"/>
              </a:defRPr>
            </a:pPr>
            <a:r>
              <a:t>미완료 → 다음 회의 안건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4965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“기존 도구는 회의를 기록합니다.  우리는 회의를 완결합니다.”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추출·등록은 검증된 템플릿을 활용하고, 확인 · 추적 · 완결에 집중합니다.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914400" cy="35560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sz="1100" b="1">
                <a:solidFill>
                  <a:srgbClr val="0F0F0F"/>
                </a:solidFill>
                <a:latin typeface="Arial"/>
              </a:defRPr>
            </a:pPr>
            <a:r>
              <a:t>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Arial"/>
              </a:defRPr>
            </a:pPr>
            <a:r>
              <a:t>녹음부터 다음 회의까지, 끊기지 않는 고리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874519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834640"/>
            <a:ext cx="1518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200400"/>
            <a:ext cx="1518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99999"/>
                </a:solidFill>
                <a:latin typeface="Arial"/>
              </a:defRPr>
            </a:pPr>
            <a:r>
              <a:t>녹음 → STT 전사</a:t>
            </a:r>
            <a:br/>
            <a:r>
              <a:t>화자 구분</a:t>
            </a:r>
            <a:br/>
            <a:r>
              <a:t>이전 회의 태그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1" y="2286000"/>
            <a:ext cx="1874519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9871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9871" y="2834640"/>
            <a:ext cx="1518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9871" y="3200400"/>
            <a:ext cx="1518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99999"/>
                </a:solidFill>
                <a:latin typeface="Arial"/>
              </a:defRPr>
            </a:pPr>
            <a:r>
              <a:t>LLM 분석</a:t>
            </a:r>
            <a:br/>
            <a:r>
              <a:t>액션·담당자·기한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0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2" y="2286000"/>
            <a:ext cx="1874519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0422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0422" y="2834640"/>
            <a:ext cx="1518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배정+확인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0422" y="3200400"/>
            <a:ext cx="1518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99999"/>
                </a:solidFill>
                <a:latin typeface="Arial"/>
              </a:defRPr>
            </a:pPr>
            <a:r>
              <a:t>R&amp;R 추천</a:t>
            </a:r>
            <a:br/>
            <a:r>
              <a:t>HITL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1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23173" y="2286000"/>
            <a:ext cx="1874519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0973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0973" y="2834640"/>
            <a:ext cx="1518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0973" y="3200400"/>
            <a:ext cx="1518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99999"/>
                </a:solidFill>
                <a:latin typeface="Arial"/>
              </a:defRPr>
            </a:pPr>
            <a:r>
              <a:t>D-2 팔로업</a:t>
            </a:r>
            <a:br/>
            <a:r>
              <a:t>답변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2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4" y="2286000"/>
            <a:ext cx="1874519" cy="18288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1524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DE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1524" y="2834640"/>
            <a:ext cx="1518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순환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1524" y="3200400"/>
            <a:ext cx="15189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99999"/>
                </a:solidFill>
                <a:latin typeface="Arial"/>
              </a:defRPr>
            </a:pPr>
            <a:r>
              <a:t>미완료 → 안건</a:t>
            </a:r>
            <a:br/>
            <a:r>
              <a:t>다음 회의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434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  <a:latin typeface="Arial"/>
              </a:defRPr>
            </a:pPr>
            <a:r>
              <a:t>↻  STAGE 5 완료 → 다음 회의 녹음 → STAGE 1  (closed loop)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93776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왜 AI여야 하는가 (규칙으로는 불가능한 3가지)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“그건 제가 한번 볼게요”  →  액션아이템 판단 (한국어 화법 맥락)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“중간발표 전까지는 돼야죠”  →  암묵적 기한을 실제 날짜로 변환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999999"/>
                </a:solidFill>
                <a:latin typeface="Arial"/>
              </a:defRPr>
            </a:pPr>
            <a:r>
              <a:t>“자료가 아직 안 와서요”  →  막힘(blocker) 상태 자동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1270000" cy="35560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sz="1100" b="1">
                <a:solidFill>
                  <a:srgbClr val="0F0F0F"/>
                </a:solidFill>
                <a:latin typeface="Arial"/>
              </a:defRPr>
            </a:pPr>
            <a:r>
              <a:t>성공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rial"/>
              </a:defRPr>
            </a:pPr>
            <a:r>
              <a:t>관리시간과 추출 품질을 측정하고,</a:t>
            </a:r>
            <a:br/>
            <a:r>
              <a:t>기한 내 이행률을 비교합니다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목표 초안이며, 초기 측정 후 확정합니다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97480"/>
            <a:ext cx="10332720" cy="457200"/>
          </a:xfrm>
          <a:prstGeom prst="round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600" y="2761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  <a:r>
              <a:t>평가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3600" y="2761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  <a:r>
              <a:t>목표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6800" y="2761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  <a:r>
              <a:t>측정 방법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10332720" cy="621792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관리시간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3600" y="34381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50%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6800" y="34381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검수·수정·등록·팔로업에 사람이 쓴 시간을 수작업과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05072"/>
            <a:ext cx="10332720" cy="621792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600" y="41422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추출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3600" y="41513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정확도 ≥ 90% · 누락률 ≤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6800" y="41513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팀원이 만든 정답과 대조 · 명시된 담당자·기한도 별도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18304"/>
            <a:ext cx="10332720" cy="621792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600" y="48554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5F5"/>
                </a:solidFill>
                <a:latin typeface="Arial"/>
              </a:defRPr>
            </a:pPr>
            <a:r>
              <a:t>기한 내 이행률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3600" y="4864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도입 전후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800" y="4864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기한이 도래한 확정 액션 중 기한 내 완료 비율 측정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62356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검증 규모 — 회의 6~8회 · 액션 30건 이상 · 팀원 2명 교차 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검수 시간을 포함해 측정하며, 소규모 전후 비교의 한계를 함께 보고  ·  체감 부담 변화는 설문(리커트 척도)으로 병행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1270000" cy="35560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 tIns="25400" bIns="25400"/>
          <a:lstStyle/>
          <a:p>
            <a:pPr algn="ctr">
              <a:defRPr sz="1100" b="1">
                <a:solidFill>
                  <a:srgbClr val="0F0F0F"/>
                </a:solidFill>
                <a:latin typeface="Arial"/>
              </a:defRPr>
            </a:pPr>
            <a:r>
              <a:t>수행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  <a:latin typeface="Arial"/>
              </a:defRPr>
            </a:pPr>
            <a:r>
              <a:t>직접 테스트하며 서비스를 구현할 예정입니다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336800"/>
            <a:ext cx="127000" cy="1270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8080" y="2489200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rial"/>
              </a:defRPr>
            </a:pPr>
            <a:r>
              <a:t>중간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문제 정의 + 설계 발표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03728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8080" y="3056128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10/25 ~ 11/7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52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최소 기능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852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녹음→추출→확인→등록 + 기본 팔로업 (전체 루프 최소 버전)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0656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8080" y="3623056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11/8 ~ 11/21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실제 사용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198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팀 회의 적용 · R&amp;R·타임라인 보완 · 목표치 확정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037584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8080" y="4189984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11/22 ~ 12/5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867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사용하면서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986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답변 해석 · 지연 알림 · 다음 회의 안건 연결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604512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8080" y="4756912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553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12/6 ~ 12/18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53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최종 검증 ·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553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관리시간 · 추출 품질 · 이행률 정리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5171440"/>
            <a:ext cx="127000" cy="1270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12/19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rial"/>
              </a:defRPr>
            </a:pPr>
            <a:r>
              <a:t>기말 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99999"/>
                </a:solidFill>
                <a:latin typeface="Arial"/>
              </a:defRPr>
            </a:pPr>
            <a:r>
              <a:t>라이브 데모 + 실제 사용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Arial"/>
              </a:defRPr>
            </a:pPr>
            <a:r>
              <a:t>11월 초부터 최소 기능을 팀 회의에 적용 → 사용·개선을 병행하며 기말까지 효과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999999"/>
                </a:solidFill>
                <a:latin typeface="Arial"/>
              </a:defRPr>
            </a:pPr>
            <a:r>
              <a:t>기존 도구는</a:t>
            </a:r>
            <a:br/>
            <a:r>
              <a:t>회의를 기록합니다.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5F5F5"/>
                </a:solidFill>
                <a:latin typeface="Arial"/>
              </a:defRPr>
            </a:pPr>
            <a:r>
              <a:t>우리는 회의를 완결합니다.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120640"/>
            <a:ext cx="2286000" cy="12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Arial"/>
              </a:defRPr>
            </a:pPr>
            <a:r>
              <a:t>FollowIt  ·  팔로잇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